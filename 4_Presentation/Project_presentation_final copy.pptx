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9" r:id="rId2"/>
    <p:sldId id="270" r:id="rId3"/>
    <p:sldId id="267" r:id="rId4"/>
    <p:sldId id="259" r:id="rId5"/>
    <p:sldId id="272" r:id="rId6"/>
    <p:sldId id="260" r:id="rId7"/>
    <p:sldId id="261" r:id="rId8"/>
    <p:sldId id="273" r:id="rId9"/>
    <p:sldId id="274" r:id="rId10"/>
    <p:sldId id="286" r:id="rId11"/>
    <p:sldId id="263" r:id="rId12"/>
    <p:sldId id="287" r:id="rId13"/>
    <p:sldId id="265" r:id="rId14"/>
    <p:sldId id="266" r:id="rId15"/>
    <p:sldId id="281" r:id="rId16"/>
    <p:sldId id="275" r:id="rId17"/>
    <p:sldId id="283" r:id="rId18"/>
    <p:sldId id="277" r:id="rId19"/>
    <p:sldId id="288" r:id="rId2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77"/>
    <p:restoredTop sz="94691"/>
  </p:normalViewPr>
  <p:slideViewPr>
    <p:cSldViewPr snapToGrid="0">
      <p:cViewPr varScale="1">
        <p:scale>
          <a:sx n="106" d="100"/>
          <a:sy n="106" d="100"/>
        </p:scale>
        <p:origin x="19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7C38D0-B6EA-470E-B5F0-FA81A2675BD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D83161-EFFF-480C-BA12-D34CAD890217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Humidity</a:t>
          </a:r>
          <a:endParaRPr lang="en-US"/>
        </a:p>
      </dgm:t>
    </dgm:pt>
    <dgm:pt modelId="{4112A58E-AE80-44A0-9814-DFF76E95F20F}" type="parTrans" cxnId="{74D26589-E014-407D-A21D-9288DCC410D6}">
      <dgm:prSet/>
      <dgm:spPr/>
      <dgm:t>
        <a:bodyPr/>
        <a:lstStyle/>
        <a:p>
          <a:endParaRPr lang="en-US"/>
        </a:p>
      </dgm:t>
    </dgm:pt>
    <dgm:pt modelId="{7274D089-EF33-4CFB-AE17-1FE202EB077D}" type="sibTrans" cxnId="{74D26589-E014-407D-A21D-9288DCC410D6}">
      <dgm:prSet/>
      <dgm:spPr/>
      <dgm:t>
        <a:bodyPr/>
        <a:lstStyle/>
        <a:p>
          <a:endParaRPr lang="en-US"/>
        </a:p>
      </dgm:t>
    </dgm:pt>
    <dgm:pt modelId="{A8936714-3453-4777-AF50-C160FB822ED1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Solar radiation</a:t>
          </a:r>
          <a:endParaRPr lang="en-US"/>
        </a:p>
      </dgm:t>
    </dgm:pt>
    <dgm:pt modelId="{4439532C-4A82-4C54-A27E-9E605CA4C31B}" type="parTrans" cxnId="{76000301-2D5E-41BF-8EB8-D9BA057C6D57}">
      <dgm:prSet/>
      <dgm:spPr/>
      <dgm:t>
        <a:bodyPr/>
        <a:lstStyle/>
        <a:p>
          <a:endParaRPr lang="en-US"/>
        </a:p>
      </dgm:t>
    </dgm:pt>
    <dgm:pt modelId="{89C234CC-64AE-4265-B86B-C02919A9C2FD}" type="sibTrans" cxnId="{76000301-2D5E-41BF-8EB8-D9BA057C6D57}">
      <dgm:prSet/>
      <dgm:spPr/>
      <dgm:t>
        <a:bodyPr/>
        <a:lstStyle/>
        <a:p>
          <a:endParaRPr lang="en-US"/>
        </a:p>
      </dgm:t>
    </dgm:pt>
    <dgm:pt modelId="{3849E9D5-3CF9-458F-95DA-D0248075AF1E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Precipitation</a:t>
          </a:r>
          <a:endParaRPr lang="en-US"/>
        </a:p>
      </dgm:t>
    </dgm:pt>
    <dgm:pt modelId="{0E9A341E-C5C1-46FA-86D3-4BF80A99162F}" type="parTrans" cxnId="{95DF38D3-9142-4987-BE00-3E2673A3F27A}">
      <dgm:prSet/>
      <dgm:spPr/>
      <dgm:t>
        <a:bodyPr/>
        <a:lstStyle/>
        <a:p>
          <a:endParaRPr lang="en-US"/>
        </a:p>
      </dgm:t>
    </dgm:pt>
    <dgm:pt modelId="{02D1E2EA-468D-42B9-82B3-80E9B41A34E4}" type="sibTrans" cxnId="{95DF38D3-9142-4987-BE00-3E2673A3F27A}">
      <dgm:prSet/>
      <dgm:spPr/>
      <dgm:t>
        <a:bodyPr/>
        <a:lstStyle/>
        <a:p>
          <a:endParaRPr lang="en-US"/>
        </a:p>
      </dgm:t>
    </dgm:pt>
    <dgm:pt modelId="{AE28EFAF-9FEF-4365-A5FC-5138631C0BD1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Cloud Coverage</a:t>
          </a:r>
          <a:endParaRPr lang="en-US"/>
        </a:p>
      </dgm:t>
    </dgm:pt>
    <dgm:pt modelId="{F06A3BEF-C40C-4A08-972F-411B6E7E0A37}" type="parTrans" cxnId="{791A3D18-1EF9-46EA-97CB-AAD6A4CDEC0A}">
      <dgm:prSet/>
      <dgm:spPr/>
      <dgm:t>
        <a:bodyPr/>
        <a:lstStyle/>
        <a:p>
          <a:endParaRPr lang="en-US"/>
        </a:p>
      </dgm:t>
    </dgm:pt>
    <dgm:pt modelId="{62149594-2DBD-4FB8-B90F-2847B2A76DCB}" type="sibTrans" cxnId="{791A3D18-1EF9-46EA-97CB-AAD6A4CDEC0A}">
      <dgm:prSet/>
      <dgm:spPr/>
      <dgm:t>
        <a:bodyPr/>
        <a:lstStyle/>
        <a:p>
          <a:endParaRPr lang="en-US"/>
        </a:p>
      </dgm:t>
    </dgm:pt>
    <dgm:pt modelId="{64608646-494A-4835-98D7-D346E4295501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Sunshine duration</a:t>
          </a:r>
          <a:endParaRPr lang="en-US"/>
        </a:p>
      </dgm:t>
    </dgm:pt>
    <dgm:pt modelId="{41860A45-BF2E-4D32-AE4C-000CC86E8826}" type="parTrans" cxnId="{C3F99A26-64A5-4126-B778-2B6DABF9CF65}">
      <dgm:prSet/>
      <dgm:spPr/>
      <dgm:t>
        <a:bodyPr/>
        <a:lstStyle/>
        <a:p>
          <a:endParaRPr lang="en-US"/>
        </a:p>
      </dgm:t>
    </dgm:pt>
    <dgm:pt modelId="{087136D5-A151-472C-AFF3-65C5802827A6}" type="sibTrans" cxnId="{C3F99A26-64A5-4126-B778-2B6DABF9CF65}">
      <dgm:prSet/>
      <dgm:spPr/>
      <dgm:t>
        <a:bodyPr/>
        <a:lstStyle/>
        <a:p>
          <a:endParaRPr lang="en-US"/>
        </a:p>
      </dgm:t>
    </dgm:pt>
    <dgm:pt modelId="{827D94EF-2647-464A-B63F-53311C5EA1D0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Pressure</a:t>
          </a:r>
          <a:endParaRPr lang="en-US"/>
        </a:p>
      </dgm:t>
    </dgm:pt>
    <dgm:pt modelId="{6B99D647-1277-45E4-B764-2E29D990B0C4}" type="parTrans" cxnId="{F12D3198-36B2-48C0-866D-ADE415FFC311}">
      <dgm:prSet/>
      <dgm:spPr/>
      <dgm:t>
        <a:bodyPr/>
        <a:lstStyle/>
        <a:p>
          <a:endParaRPr lang="en-US"/>
        </a:p>
      </dgm:t>
    </dgm:pt>
    <dgm:pt modelId="{321A05AE-8992-495D-94A9-1746EB996D60}" type="sibTrans" cxnId="{F12D3198-36B2-48C0-866D-ADE415FFC311}">
      <dgm:prSet/>
      <dgm:spPr/>
      <dgm:t>
        <a:bodyPr/>
        <a:lstStyle/>
        <a:p>
          <a:endParaRPr lang="en-US"/>
        </a:p>
      </dgm:t>
    </dgm:pt>
    <dgm:pt modelId="{DA724800-6FC5-494D-83CA-EFAA842ABA4D}">
      <dgm:prSet/>
      <dgm:spPr/>
      <dgm:t>
        <a:bodyPr/>
        <a:lstStyle/>
        <a:p>
          <a:pPr>
            <a:lnSpc>
              <a:spcPct val="100000"/>
            </a:lnSpc>
          </a:pPr>
          <a:r>
            <a:rPr lang="en-DE"/>
            <a:t>Temperature</a:t>
          </a:r>
          <a:endParaRPr lang="en-US"/>
        </a:p>
      </dgm:t>
    </dgm:pt>
    <dgm:pt modelId="{9F3B530F-E65B-46FA-87CC-DA8269BD4938}" type="sibTrans" cxnId="{EC455F99-EE7B-4091-AB09-B3F9CF034854}">
      <dgm:prSet/>
      <dgm:spPr/>
      <dgm:t>
        <a:bodyPr/>
        <a:lstStyle/>
        <a:p>
          <a:endParaRPr lang="en-US"/>
        </a:p>
      </dgm:t>
    </dgm:pt>
    <dgm:pt modelId="{545AD47C-454F-4299-B092-F83FFFD7EE9A}" type="parTrans" cxnId="{EC455F99-EE7B-4091-AB09-B3F9CF034854}">
      <dgm:prSet/>
      <dgm:spPr/>
      <dgm:t>
        <a:bodyPr/>
        <a:lstStyle/>
        <a:p>
          <a:endParaRPr lang="en-US"/>
        </a:p>
      </dgm:t>
    </dgm:pt>
    <dgm:pt modelId="{510594F1-684B-484B-813A-68E0B7B7F56C}" type="pres">
      <dgm:prSet presAssocID="{C57C38D0-B6EA-470E-B5F0-FA81A2675BD6}" presName="root" presStyleCnt="0">
        <dgm:presLayoutVars>
          <dgm:dir/>
          <dgm:resizeHandles val="exact"/>
        </dgm:presLayoutVars>
      </dgm:prSet>
      <dgm:spPr/>
    </dgm:pt>
    <dgm:pt modelId="{83C866B2-5EB6-4DA6-95B6-712A79A3026D}" type="pres">
      <dgm:prSet presAssocID="{DA724800-6FC5-494D-83CA-EFAA842ABA4D}" presName="compNode" presStyleCnt="0"/>
      <dgm:spPr/>
    </dgm:pt>
    <dgm:pt modelId="{6D819BD5-F8D3-4B01-8DCF-FCF385FE2D81}" type="pres">
      <dgm:prSet presAssocID="{DA724800-6FC5-494D-83CA-EFAA842ABA4D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51C03FBE-94EF-4BD6-A839-7C76D71A22F0}" type="pres">
      <dgm:prSet presAssocID="{DA724800-6FC5-494D-83CA-EFAA842ABA4D}" presName="spaceRect" presStyleCnt="0"/>
      <dgm:spPr/>
    </dgm:pt>
    <dgm:pt modelId="{491EF043-2E35-484A-B83A-231DF112FBA8}" type="pres">
      <dgm:prSet presAssocID="{DA724800-6FC5-494D-83CA-EFAA842ABA4D}" presName="textRect" presStyleLbl="revTx" presStyleIdx="0" presStyleCnt="7">
        <dgm:presLayoutVars>
          <dgm:chMax val="1"/>
          <dgm:chPref val="1"/>
        </dgm:presLayoutVars>
      </dgm:prSet>
      <dgm:spPr/>
    </dgm:pt>
    <dgm:pt modelId="{ABCF0DA0-3F80-4E24-8252-0D8621EFBA98}" type="pres">
      <dgm:prSet presAssocID="{9F3B530F-E65B-46FA-87CC-DA8269BD4938}" presName="sibTrans" presStyleCnt="0"/>
      <dgm:spPr/>
    </dgm:pt>
    <dgm:pt modelId="{36D89E4A-F46E-4D53-9121-6E9A682C390D}" type="pres">
      <dgm:prSet presAssocID="{96D83161-EFFF-480C-BA12-D34CAD890217}" presName="compNode" presStyleCnt="0"/>
      <dgm:spPr/>
    </dgm:pt>
    <dgm:pt modelId="{57D7AD28-4677-4217-AC29-16D5B46B37A4}" type="pres">
      <dgm:prSet presAssocID="{96D83161-EFFF-480C-BA12-D34CAD89021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ert scene"/>
        </a:ext>
      </dgm:extLst>
    </dgm:pt>
    <dgm:pt modelId="{F0750579-F9C2-4263-B433-53834317269C}" type="pres">
      <dgm:prSet presAssocID="{96D83161-EFFF-480C-BA12-D34CAD890217}" presName="spaceRect" presStyleCnt="0"/>
      <dgm:spPr/>
    </dgm:pt>
    <dgm:pt modelId="{5A25A1A8-34D8-4B57-80F8-CC47F6E39854}" type="pres">
      <dgm:prSet presAssocID="{96D83161-EFFF-480C-BA12-D34CAD890217}" presName="textRect" presStyleLbl="revTx" presStyleIdx="1" presStyleCnt="7">
        <dgm:presLayoutVars>
          <dgm:chMax val="1"/>
          <dgm:chPref val="1"/>
        </dgm:presLayoutVars>
      </dgm:prSet>
      <dgm:spPr/>
    </dgm:pt>
    <dgm:pt modelId="{2EFB7FE4-DD7B-4FD6-B687-89E20EA92A05}" type="pres">
      <dgm:prSet presAssocID="{7274D089-EF33-4CFB-AE17-1FE202EB077D}" presName="sibTrans" presStyleCnt="0"/>
      <dgm:spPr/>
    </dgm:pt>
    <dgm:pt modelId="{DCDC03A6-2EAB-42BA-B378-10C78D0E00BA}" type="pres">
      <dgm:prSet presAssocID="{A8936714-3453-4777-AF50-C160FB822ED1}" presName="compNode" presStyleCnt="0"/>
      <dgm:spPr/>
    </dgm:pt>
    <dgm:pt modelId="{17BF87A3-C7C6-48D1-B0D1-F23AF6B7F080}" type="pres">
      <dgm:prSet presAssocID="{A8936714-3453-4777-AF50-C160FB822ED1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49888919-A6CE-49E7-959A-04A61C5457D7}" type="pres">
      <dgm:prSet presAssocID="{A8936714-3453-4777-AF50-C160FB822ED1}" presName="spaceRect" presStyleCnt="0"/>
      <dgm:spPr/>
    </dgm:pt>
    <dgm:pt modelId="{E9A03AC6-C145-469F-91F8-FCFAD90208E1}" type="pres">
      <dgm:prSet presAssocID="{A8936714-3453-4777-AF50-C160FB822ED1}" presName="textRect" presStyleLbl="revTx" presStyleIdx="2" presStyleCnt="7">
        <dgm:presLayoutVars>
          <dgm:chMax val="1"/>
          <dgm:chPref val="1"/>
        </dgm:presLayoutVars>
      </dgm:prSet>
      <dgm:spPr/>
    </dgm:pt>
    <dgm:pt modelId="{649C34AF-4E9A-48C2-8572-39C667C3E50F}" type="pres">
      <dgm:prSet presAssocID="{89C234CC-64AE-4265-B86B-C02919A9C2FD}" presName="sibTrans" presStyleCnt="0"/>
      <dgm:spPr/>
    </dgm:pt>
    <dgm:pt modelId="{756B6FB4-FAEF-42A2-BCA5-F01291A048B2}" type="pres">
      <dgm:prSet presAssocID="{3849E9D5-3CF9-458F-95DA-D0248075AF1E}" presName="compNode" presStyleCnt="0"/>
      <dgm:spPr/>
    </dgm:pt>
    <dgm:pt modelId="{8780B5C7-C2A6-4BC9-A01C-E62C9D484711}" type="pres">
      <dgm:prSet presAssocID="{3849E9D5-3CF9-458F-95DA-D0248075AF1E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fall scene"/>
        </a:ext>
      </dgm:extLst>
    </dgm:pt>
    <dgm:pt modelId="{926CF217-0DB6-4B78-B6E9-464175C2C907}" type="pres">
      <dgm:prSet presAssocID="{3849E9D5-3CF9-458F-95DA-D0248075AF1E}" presName="spaceRect" presStyleCnt="0"/>
      <dgm:spPr/>
    </dgm:pt>
    <dgm:pt modelId="{282727AF-FDB9-4708-8BF6-3E3195119905}" type="pres">
      <dgm:prSet presAssocID="{3849E9D5-3CF9-458F-95DA-D0248075AF1E}" presName="textRect" presStyleLbl="revTx" presStyleIdx="3" presStyleCnt="7">
        <dgm:presLayoutVars>
          <dgm:chMax val="1"/>
          <dgm:chPref val="1"/>
        </dgm:presLayoutVars>
      </dgm:prSet>
      <dgm:spPr/>
    </dgm:pt>
    <dgm:pt modelId="{E02D7450-A71E-4B10-A4B9-DC599A76B49E}" type="pres">
      <dgm:prSet presAssocID="{02D1E2EA-468D-42B9-82B3-80E9B41A34E4}" presName="sibTrans" presStyleCnt="0"/>
      <dgm:spPr/>
    </dgm:pt>
    <dgm:pt modelId="{52609CAD-10BD-4540-AA49-ADD86805A498}" type="pres">
      <dgm:prSet presAssocID="{AE28EFAF-9FEF-4365-A5FC-5138631C0BD1}" presName="compNode" presStyleCnt="0"/>
      <dgm:spPr/>
    </dgm:pt>
    <dgm:pt modelId="{32F9EE0C-FE55-420D-A95D-E9FD8BB98BEE}" type="pres">
      <dgm:prSet presAssocID="{AE28EFAF-9FEF-4365-A5FC-5138631C0BD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485A638D-5591-4246-9D5D-76E8A2CCE4BC}" type="pres">
      <dgm:prSet presAssocID="{AE28EFAF-9FEF-4365-A5FC-5138631C0BD1}" presName="spaceRect" presStyleCnt="0"/>
      <dgm:spPr/>
    </dgm:pt>
    <dgm:pt modelId="{1C66B544-D802-4C9E-8F48-5AD87E09DE02}" type="pres">
      <dgm:prSet presAssocID="{AE28EFAF-9FEF-4365-A5FC-5138631C0BD1}" presName="textRect" presStyleLbl="revTx" presStyleIdx="4" presStyleCnt="7">
        <dgm:presLayoutVars>
          <dgm:chMax val="1"/>
          <dgm:chPref val="1"/>
        </dgm:presLayoutVars>
      </dgm:prSet>
      <dgm:spPr/>
    </dgm:pt>
    <dgm:pt modelId="{5FD800D4-AA34-40BE-8014-DD7370D02DE1}" type="pres">
      <dgm:prSet presAssocID="{62149594-2DBD-4FB8-B90F-2847B2A76DCB}" presName="sibTrans" presStyleCnt="0"/>
      <dgm:spPr/>
    </dgm:pt>
    <dgm:pt modelId="{8C081DA6-C58B-4F5D-9CDB-D02EFFF78447}" type="pres">
      <dgm:prSet presAssocID="{64608646-494A-4835-98D7-D346E4295501}" presName="compNode" presStyleCnt="0"/>
      <dgm:spPr/>
    </dgm:pt>
    <dgm:pt modelId="{A6CBCB9A-ADF4-4BD6-A85D-A87CEF60F8C5}" type="pres">
      <dgm:prSet presAssocID="{64608646-494A-4835-98D7-D346E429550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CD7F76BC-AB4D-48C8-A755-83CD95B1AAEC}" type="pres">
      <dgm:prSet presAssocID="{64608646-494A-4835-98D7-D346E4295501}" presName="spaceRect" presStyleCnt="0"/>
      <dgm:spPr/>
    </dgm:pt>
    <dgm:pt modelId="{2FA21A6B-754C-4340-8B33-31DBF611136D}" type="pres">
      <dgm:prSet presAssocID="{64608646-494A-4835-98D7-D346E4295501}" presName="textRect" presStyleLbl="revTx" presStyleIdx="5" presStyleCnt="7">
        <dgm:presLayoutVars>
          <dgm:chMax val="1"/>
          <dgm:chPref val="1"/>
        </dgm:presLayoutVars>
      </dgm:prSet>
      <dgm:spPr/>
    </dgm:pt>
    <dgm:pt modelId="{3F811984-C780-4076-8812-1FC41D12288F}" type="pres">
      <dgm:prSet presAssocID="{087136D5-A151-472C-AFF3-65C5802827A6}" presName="sibTrans" presStyleCnt="0"/>
      <dgm:spPr/>
    </dgm:pt>
    <dgm:pt modelId="{5938CEB4-BD28-4023-B22C-FF7F7E274014}" type="pres">
      <dgm:prSet presAssocID="{827D94EF-2647-464A-B63F-53311C5EA1D0}" presName="compNode" presStyleCnt="0"/>
      <dgm:spPr/>
    </dgm:pt>
    <dgm:pt modelId="{2B12E9D6-8B7F-4037-AC6D-75C92411E22E}" type="pres">
      <dgm:prSet presAssocID="{827D94EF-2647-464A-B63F-53311C5EA1D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F172F282-62A0-4C49-BAA1-824C37843CB1}" type="pres">
      <dgm:prSet presAssocID="{827D94EF-2647-464A-B63F-53311C5EA1D0}" presName="spaceRect" presStyleCnt="0"/>
      <dgm:spPr/>
    </dgm:pt>
    <dgm:pt modelId="{8BF5466B-25DE-431A-B687-1E89FCC8CF3E}" type="pres">
      <dgm:prSet presAssocID="{827D94EF-2647-464A-B63F-53311C5EA1D0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62C1B00-ECF4-4F03-BB96-91E7D123D52C}" type="presOf" srcId="{DA724800-6FC5-494D-83CA-EFAA842ABA4D}" destId="{491EF043-2E35-484A-B83A-231DF112FBA8}" srcOrd="0" destOrd="0" presId="urn:microsoft.com/office/officeart/2018/2/layout/IconLabelList"/>
    <dgm:cxn modelId="{76000301-2D5E-41BF-8EB8-D9BA057C6D57}" srcId="{C57C38D0-B6EA-470E-B5F0-FA81A2675BD6}" destId="{A8936714-3453-4777-AF50-C160FB822ED1}" srcOrd="2" destOrd="0" parTransId="{4439532C-4A82-4C54-A27E-9E605CA4C31B}" sibTransId="{89C234CC-64AE-4265-B86B-C02919A9C2FD}"/>
    <dgm:cxn modelId="{791A3D18-1EF9-46EA-97CB-AAD6A4CDEC0A}" srcId="{C57C38D0-B6EA-470E-B5F0-FA81A2675BD6}" destId="{AE28EFAF-9FEF-4365-A5FC-5138631C0BD1}" srcOrd="4" destOrd="0" parTransId="{F06A3BEF-C40C-4A08-972F-411B6E7E0A37}" sibTransId="{62149594-2DBD-4FB8-B90F-2847B2A76DCB}"/>
    <dgm:cxn modelId="{C3F99A26-64A5-4126-B778-2B6DABF9CF65}" srcId="{C57C38D0-B6EA-470E-B5F0-FA81A2675BD6}" destId="{64608646-494A-4835-98D7-D346E4295501}" srcOrd="5" destOrd="0" parTransId="{41860A45-BF2E-4D32-AE4C-000CC86E8826}" sibTransId="{087136D5-A151-472C-AFF3-65C5802827A6}"/>
    <dgm:cxn modelId="{DEBB335C-2AFD-47B1-B78C-9047DD7C7835}" type="presOf" srcId="{A8936714-3453-4777-AF50-C160FB822ED1}" destId="{E9A03AC6-C145-469F-91F8-FCFAD90208E1}" srcOrd="0" destOrd="0" presId="urn:microsoft.com/office/officeart/2018/2/layout/IconLabelList"/>
    <dgm:cxn modelId="{615B7262-FAD2-4489-B9A4-717851FEACC5}" type="presOf" srcId="{827D94EF-2647-464A-B63F-53311C5EA1D0}" destId="{8BF5466B-25DE-431A-B687-1E89FCC8CF3E}" srcOrd="0" destOrd="0" presId="urn:microsoft.com/office/officeart/2018/2/layout/IconLabelList"/>
    <dgm:cxn modelId="{4ABDBB79-1C66-414A-BAEF-FE2478BB1643}" type="presOf" srcId="{C57C38D0-B6EA-470E-B5F0-FA81A2675BD6}" destId="{510594F1-684B-484B-813A-68E0B7B7F56C}" srcOrd="0" destOrd="0" presId="urn:microsoft.com/office/officeart/2018/2/layout/IconLabelList"/>
    <dgm:cxn modelId="{74D26589-E014-407D-A21D-9288DCC410D6}" srcId="{C57C38D0-B6EA-470E-B5F0-FA81A2675BD6}" destId="{96D83161-EFFF-480C-BA12-D34CAD890217}" srcOrd="1" destOrd="0" parTransId="{4112A58E-AE80-44A0-9814-DFF76E95F20F}" sibTransId="{7274D089-EF33-4CFB-AE17-1FE202EB077D}"/>
    <dgm:cxn modelId="{F12D3198-36B2-48C0-866D-ADE415FFC311}" srcId="{C57C38D0-B6EA-470E-B5F0-FA81A2675BD6}" destId="{827D94EF-2647-464A-B63F-53311C5EA1D0}" srcOrd="6" destOrd="0" parTransId="{6B99D647-1277-45E4-B764-2E29D990B0C4}" sibTransId="{321A05AE-8992-495D-94A9-1746EB996D60}"/>
    <dgm:cxn modelId="{EC455F99-EE7B-4091-AB09-B3F9CF034854}" srcId="{C57C38D0-B6EA-470E-B5F0-FA81A2675BD6}" destId="{DA724800-6FC5-494D-83CA-EFAA842ABA4D}" srcOrd="0" destOrd="0" parTransId="{545AD47C-454F-4299-B092-F83FFFD7EE9A}" sibTransId="{9F3B530F-E65B-46FA-87CC-DA8269BD4938}"/>
    <dgm:cxn modelId="{95DF38D3-9142-4987-BE00-3E2673A3F27A}" srcId="{C57C38D0-B6EA-470E-B5F0-FA81A2675BD6}" destId="{3849E9D5-3CF9-458F-95DA-D0248075AF1E}" srcOrd="3" destOrd="0" parTransId="{0E9A341E-C5C1-46FA-86D3-4BF80A99162F}" sibTransId="{02D1E2EA-468D-42B9-82B3-80E9B41A34E4}"/>
    <dgm:cxn modelId="{459E95E2-B761-4072-9FA2-04C7CDE19C8C}" type="presOf" srcId="{96D83161-EFFF-480C-BA12-D34CAD890217}" destId="{5A25A1A8-34D8-4B57-80F8-CC47F6E39854}" srcOrd="0" destOrd="0" presId="urn:microsoft.com/office/officeart/2018/2/layout/IconLabelList"/>
    <dgm:cxn modelId="{0BF0AFEB-75FD-4272-AAF4-1A639FA81C08}" type="presOf" srcId="{64608646-494A-4835-98D7-D346E4295501}" destId="{2FA21A6B-754C-4340-8B33-31DBF611136D}" srcOrd="0" destOrd="0" presId="urn:microsoft.com/office/officeart/2018/2/layout/IconLabelList"/>
    <dgm:cxn modelId="{8999AEED-70AC-41D9-9418-C943C86BD8E7}" type="presOf" srcId="{AE28EFAF-9FEF-4365-A5FC-5138631C0BD1}" destId="{1C66B544-D802-4C9E-8F48-5AD87E09DE02}" srcOrd="0" destOrd="0" presId="urn:microsoft.com/office/officeart/2018/2/layout/IconLabelList"/>
    <dgm:cxn modelId="{CB1608F4-FCDA-46B8-9DBD-0C7106DD2730}" type="presOf" srcId="{3849E9D5-3CF9-458F-95DA-D0248075AF1E}" destId="{282727AF-FDB9-4708-8BF6-3E3195119905}" srcOrd="0" destOrd="0" presId="urn:microsoft.com/office/officeart/2018/2/layout/IconLabelList"/>
    <dgm:cxn modelId="{B4666429-6C6E-4E3B-8363-03A8ABAD914F}" type="presParOf" srcId="{510594F1-684B-484B-813A-68E0B7B7F56C}" destId="{83C866B2-5EB6-4DA6-95B6-712A79A3026D}" srcOrd="0" destOrd="0" presId="urn:microsoft.com/office/officeart/2018/2/layout/IconLabelList"/>
    <dgm:cxn modelId="{F1004243-0A15-4C2B-92A1-F566FA5A9547}" type="presParOf" srcId="{83C866B2-5EB6-4DA6-95B6-712A79A3026D}" destId="{6D819BD5-F8D3-4B01-8DCF-FCF385FE2D81}" srcOrd="0" destOrd="0" presId="urn:microsoft.com/office/officeart/2018/2/layout/IconLabelList"/>
    <dgm:cxn modelId="{19C9218F-2DCA-46EE-86B3-BCACA0CB6EE7}" type="presParOf" srcId="{83C866B2-5EB6-4DA6-95B6-712A79A3026D}" destId="{51C03FBE-94EF-4BD6-A839-7C76D71A22F0}" srcOrd="1" destOrd="0" presId="urn:microsoft.com/office/officeart/2018/2/layout/IconLabelList"/>
    <dgm:cxn modelId="{E051FC46-F7D2-4278-B3BD-C43FE8F3E9E9}" type="presParOf" srcId="{83C866B2-5EB6-4DA6-95B6-712A79A3026D}" destId="{491EF043-2E35-484A-B83A-231DF112FBA8}" srcOrd="2" destOrd="0" presId="urn:microsoft.com/office/officeart/2018/2/layout/IconLabelList"/>
    <dgm:cxn modelId="{952AD302-A291-488C-9840-174E3D5103EF}" type="presParOf" srcId="{510594F1-684B-484B-813A-68E0B7B7F56C}" destId="{ABCF0DA0-3F80-4E24-8252-0D8621EFBA98}" srcOrd="1" destOrd="0" presId="urn:microsoft.com/office/officeart/2018/2/layout/IconLabelList"/>
    <dgm:cxn modelId="{928ED415-32F2-4C9F-8919-1B8037018038}" type="presParOf" srcId="{510594F1-684B-484B-813A-68E0B7B7F56C}" destId="{36D89E4A-F46E-4D53-9121-6E9A682C390D}" srcOrd="2" destOrd="0" presId="urn:microsoft.com/office/officeart/2018/2/layout/IconLabelList"/>
    <dgm:cxn modelId="{D06F067A-9157-452B-BFC0-440ADDF6FA27}" type="presParOf" srcId="{36D89E4A-F46E-4D53-9121-6E9A682C390D}" destId="{57D7AD28-4677-4217-AC29-16D5B46B37A4}" srcOrd="0" destOrd="0" presId="urn:microsoft.com/office/officeart/2018/2/layout/IconLabelList"/>
    <dgm:cxn modelId="{286909DF-ED58-4488-9FDF-E4639A6BD1B4}" type="presParOf" srcId="{36D89E4A-F46E-4D53-9121-6E9A682C390D}" destId="{F0750579-F9C2-4263-B433-53834317269C}" srcOrd="1" destOrd="0" presId="urn:microsoft.com/office/officeart/2018/2/layout/IconLabelList"/>
    <dgm:cxn modelId="{6F1A6F83-8933-463F-90F9-B66F2C023264}" type="presParOf" srcId="{36D89E4A-F46E-4D53-9121-6E9A682C390D}" destId="{5A25A1A8-34D8-4B57-80F8-CC47F6E39854}" srcOrd="2" destOrd="0" presId="urn:microsoft.com/office/officeart/2018/2/layout/IconLabelList"/>
    <dgm:cxn modelId="{CA200417-C3D3-49BF-BDBC-6844B961A61E}" type="presParOf" srcId="{510594F1-684B-484B-813A-68E0B7B7F56C}" destId="{2EFB7FE4-DD7B-4FD6-B687-89E20EA92A05}" srcOrd="3" destOrd="0" presId="urn:microsoft.com/office/officeart/2018/2/layout/IconLabelList"/>
    <dgm:cxn modelId="{7F011E92-5824-4DD1-A867-E87D5C8438A6}" type="presParOf" srcId="{510594F1-684B-484B-813A-68E0B7B7F56C}" destId="{DCDC03A6-2EAB-42BA-B378-10C78D0E00BA}" srcOrd="4" destOrd="0" presId="urn:microsoft.com/office/officeart/2018/2/layout/IconLabelList"/>
    <dgm:cxn modelId="{FF72A953-34B2-46FC-B1BE-59C4A586A0AE}" type="presParOf" srcId="{DCDC03A6-2EAB-42BA-B378-10C78D0E00BA}" destId="{17BF87A3-C7C6-48D1-B0D1-F23AF6B7F080}" srcOrd="0" destOrd="0" presId="urn:microsoft.com/office/officeart/2018/2/layout/IconLabelList"/>
    <dgm:cxn modelId="{26AA2A7F-F7C3-40EB-ABD9-8258AC83E914}" type="presParOf" srcId="{DCDC03A6-2EAB-42BA-B378-10C78D0E00BA}" destId="{49888919-A6CE-49E7-959A-04A61C5457D7}" srcOrd="1" destOrd="0" presId="urn:microsoft.com/office/officeart/2018/2/layout/IconLabelList"/>
    <dgm:cxn modelId="{8FBDF92F-2461-48F6-844D-5561BE077AB0}" type="presParOf" srcId="{DCDC03A6-2EAB-42BA-B378-10C78D0E00BA}" destId="{E9A03AC6-C145-469F-91F8-FCFAD90208E1}" srcOrd="2" destOrd="0" presId="urn:microsoft.com/office/officeart/2018/2/layout/IconLabelList"/>
    <dgm:cxn modelId="{D9EFD90F-B3F8-4A68-B045-F13E5B3C000F}" type="presParOf" srcId="{510594F1-684B-484B-813A-68E0B7B7F56C}" destId="{649C34AF-4E9A-48C2-8572-39C667C3E50F}" srcOrd="5" destOrd="0" presId="urn:microsoft.com/office/officeart/2018/2/layout/IconLabelList"/>
    <dgm:cxn modelId="{17E2A340-F912-4D5D-8361-4004D54617FC}" type="presParOf" srcId="{510594F1-684B-484B-813A-68E0B7B7F56C}" destId="{756B6FB4-FAEF-42A2-BCA5-F01291A048B2}" srcOrd="6" destOrd="0" presId="urn:microsoft.com/office/officeart/2018/2/layout/IconLabelList"/>
    <dgm:cxn modelId="{B82F9AB6-AF15-4052-A335-25282CC4E942}" type="presParOf" srcId="{756B6FB4-FAEF-42A2-BCA5-F01291A048B2}" destId="{8780B5C7-C2A6-4BC9-A01C-E62C9D484711}" srcOrd="0" destOrd="0" presId="urn:microsoft.com/office/officeart/2018/2/layout/IconLabelList"/>
    <dgm:cxn modelId="{DDCE11F5-A41E-4DB5-ACD2-BD7813E3D380}" type="presParOf" srcId="{756B6FB4-FAEF-42A2-BCA5-F01291A048B2}" destId="{926CF217-0DB6-4B78-B6E9-464175C2C907}" srcOrd="1" destOrd="0" presId="urn:microsoft.com/office/officeart/2018/2/layout/IconLabelList"/>
    <dgm:cxn modelId="{FB68C528-3831-455C-850D-85A7F63E044E}" type="presParOf" srcId="{756B6FB4-FAEF-42A2-BCA5-F01291A048B2}" destId="{282727AF-FDB9-4708-8BF6-3E3195119905}" srcOrd="2" destOrd="0" presId="urn:microsoft.com/office/officeart/2018/2/layout/IconLabelList"/>
    <dgm:cxn modelId="{CDEC9CF7-CABD-447D-88C8-61BE1E9D4B7D}" type="presParOf" srcId="{510594F1-684B-484B-813A-68E0B7B7F56C}" destId="{E02D7450-A71E-4B10-A4B9-DC599A76B49E}" srcOrd="7" destOrd="0" presId="urn:microsoft.com/office/officeart/2018/2/layout/IconLabelList"/>
    <dgm:cxn modelId="{AF1B7FAC-4D51-47B1-8B1D-D00A50D6DEBE}" type="presParOf" srcId="{510594F1-684B-484B-813A-68E0B7B7F56C}" destId="{52609CAD-10BD-4540-AA49-ADD86805A498}" srcOrd="8" destOrd="0" presId="urn:microsoft.com/office/officeart/2018/2/layout/IconLabelList"/>
    <dgm:cxn modelId="{C5AC5A41-5F66-4EA3-8BE6-AB3A49692517}" type="presParOf" srcId="{52609CAD-10BD-4540-AA49-ADD86805A498}" destId="{32F9EE0C-FE55-420D-A95D-E9FD8BB98BEE}" srcOrd="0" destOrd="0" presId="urn:microsoft.com/office/officeart/2018/2/layout/IconLabelList"/>
    <dgm:cxn modelId="{A1129992-FC5F-484E-9DC5-D04BB579DB61}" type="presParOf" srcId="{52609CAD-10BD-4540-AA49-ADD86805A498}" destId="{485A638D-5591-4246-9D5D-76E8A2CCE4BC}" srcOrd="1" destOrd="0" presId="urn:microsoft.com/office/officeart/2018/2/layout/IconLabelList"/>
    <dgm:cxn modelId="{D56084A9-6073-4A26-91FC-0A8B445B8E72}" type="presParOf" srcId="{52609CAD-10BD-4540-AA49-ADD86805A498}" destId="{1C66B544-D802-4C9E-8F48-5AD87E09DE02}" srcOrd="2" destOrd="0" presId="urn:microsoft.com/office/officeart/2018/2/layout/IconLabelList"/>
    <dgm:cxn modelId="{5B66B1DC-856D-4F9E-B01D-B6005E88EE2F}" type="presParOf" srcId="{510594F1-684B-484B-813A-68E0B7B7F56C}" destId="{5FD800D4-AA34-40BE-8014-DD7370D02DE1}" srcOrd="9" destOrd="0" presId="urn:microsoft.com/office/officeart/2018/2/layout/IconLabelList"/>
    <dgm:cxn modelId="{85123DD9-1993-4CFB-B106-D124077BE66F}" type="presParOf" srcId="{510594F1-684B-484B-813A-68E0B7B7F56C}" destId="{8C081DA6-C58B-4F5D-9CDB-D02EFFF78447}" srcOrd="10" destOrd="0" presId="urn:microsoft.com/office/officeart/2018/2/layout/IconLabelList"/>
    <dgm:cxn modelId="{E10CE830-F61B-4CAD-BEE9-EEC7BFA6F090}" type="presParOf" srcId="{8C081DA6-C58B-4F5D-9CDB-D02EFFF78447}" destId="{A6CBCB9A-ADF4-4BD6-A85D-A87CEF60F8C5}" srcOrd="0" destOrd="0" presId="urn:microsoft.com/office/officeart/2018/2/layout/IconLabelList"/>
    <dgm:cxn modelId="{7A53E823-7ECE-4208-A0F4-4CFF567EF23F}" type="presParOf" srcId="{8C081DA6-C58B-4F5D-9CDB-D02EFFF78447}" destId="{CD7F76BC-AB4D-48C8-A755-83CD95B1AAEC}" srcOrd="1" destOrd="0" presId="urn:microsoft.com/office/officeart/2018/2/layout/IconLabelList"/>
    <dgm:cxn modelId="{F53D87DE-C9EA-44AC-AB86-92811CA2BF85}" type="presParOf" srcId="{8C081DA6-C58B-4F5D-9CDB-D02EFFF78447}" destId="{2FA21A6B-754C-4340-8B33-31DBF611136D}" srcOrd="2" destOrd="0" presId="urn:microsoft.com/office/officeart/2018/2/layout/IconLabelList"/>
    <dgm:cxn modelId="{D57AB802-BBC9-47E8-BFFD-9E6D400036D8}" type="presParOf" srcId="{510594F1-684B-484B-813A-68E0B7B7F56C}" destId="{3F811984-C780-4076-8812-1FC41D12288F}" srcOrd="11" destOrd="0" presId="urn:microsoft.com/office/officeart/2018/2/layout/IconLabelList"/>
    <dgm:cxn modelId="{AF91BB4B-5F76-416E-9436-F1C120FC837B}" type="presParOf" srcId="{510594F1-684B-484B-813A-68E0B7B7F56C}" destId="{5938CEB4-BD28-4023-B22C-FF7F7E274014}" srcOrd="12" destOrd="0" presId="urn:microsoft.com/office/officeart/2018/2/layout/IconLabelList"/>
    <dgm:cxn modelId="{B24A693B-CA75-46A5-898B-36BEE377A866}" type="presParOf" srcId="{5938CEB4-BD28-4023-B22C-FF7F7E274014}" destId="{2B12E9D6-8B7F-4037-AC6D-75C92411E22E}" srcOrd="0" destOrd="0" presId="urn:microsoft.com/office/officeart/2018/2/layout/IconLabelList"/>
    <dgm:cxn modelId="{B5C06B47-CE24-48C3-8F2D-090C48DD400B}" type="presParOf" srcId="{5938CEB4-BD28-4023-B22C-FF7F7E274014}" destId="{F172F282-62A0-4C49-BAA1-824C37843CB1}" srcOrd="1" destOrd="0" presId="urn:microsoft.com/office/officeart/2018/2/layout/IconLabelList"/>
    <dgm:cxn modelId="{06853A84-6BC4-445F-BAED-DD671B70F2B7}" type="presParOf" srcId="{5938CEB4-BD28-4023-B22C-FF7F7E274014}" destId="{8BF5466B-25DE-431A-B687-1E89FCC8CF3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819BD5-F8D3-4B01-8DCF-FCF385FE2D81}">
      <dsp:nvSpPr>
        <dsp:cNvPr id="0" name=""/>
        <dsp:cNvSpPr/>
      </dsp:nvSpPr>
      <dsp:spPr>
        <a:xfrm>
          <a:off x="550922" y="243488"/>
          <a:ext cx="581396" cy="5813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EF043-2E35-484A-B83A-231DF112FBA8}">
      <dsp:nvSpPr>
        <dsp:cNvPr id="0" name=""/>
        <dsp:cNvSpPr/>
      </dsp:nvSpPr>
      <dsp:spPr>
        <a:xfrm>
          <a:off x="195624" y="1029864"/>
          <a:ext cx="1291992" cy="51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/>
            <a:t>Temperature</a:t>
          </a:r>
          <a:endParaRPr lang="en-US" sz="1600" kern="1200"/>
        </a:p>
      </dsp:txBody>
      <dsp:txXfrm>
        <a:off x="195624" y="1029864"/>
        <a:ext cx="1291992" cy="516796"/>
      </dsp:txXfrm>
    </dsp:sp>
    <dsp:sp modelId="{57D7AD28-4677-4217-AC29-16D5B46B37A4}">
      <dsp:nvSpPr>
        <dsp:cNvPr id="0" name=""/>
        <dsp:cNvSpPr/>
      </dsp:nvSpPr>
      <dsp:spPr>
        <a:xfrm>
          <a:off x="2069013" y="243488"/>
          <a:ext cx="581396" cy="5813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5A1A8-34D8-4B57-80F8-CC47F6E39854}">
      <dsp:nvSpPr>
        <dsp:cNvPr id="0" name=""/>
        <dsp:cNvSpPr/>
      </dsp:nvSpPr>
      <dsp:spPr>
        <a:xfrm>
          <a:off x="1713715" y="1029864"/>
          <a:ext cx="1291992" cy="51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/>
            <a:t>Humidity</a:t>
          </a:r>
          <a:endParaRPr lang="en-US" sz="1600" kern="1200"/>
        </a:p>
      </dsp:txBody>
      <dsp:txXfrm>
        <a:off x="1713715" y="1029864"/>
        <a:ext cx="1291992" cy="516796"/>
      </dsp:txXfrm>
    </dsp:sp>
    <dsp:sp modelId="{17BF87A3-C7C6-48D1-B0D1-F23AF6B7F080}">
      <dsp:nvSpPr>
        <dsp:cNvPr id="0" name=""/>
        <dsp:cNvSpPr/>
      </dsp:nvSpPr>
      <dsp:spPr>
        <a:xfrm>
          <a:off x="3587104" y="243488"/>
          <a:ext cx="581396" cy="5813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03AC6-C145-469F-91F8-FCFAD90208E1}">
      <dsp:nvSpPr>
        <dsp:cNvPr id="0" name=""/>
        <dsp:cNvSpPr/>
      </dsp:nvSpPr>
      <dsp:spPr>
        <a:xfrm>
          <a:off x="3231806" y="1029864"/>
          <a:ext cx="1291992" cy="51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/>
            <a:t>Solar radiation</a:t>
          </a:r>
          <a:endParaRPr lang="en-US" sz="1600" kern="1200"/>
        </a:p>
      </dsp:txBody>
      <dsp:txXfrm>
        <a:off x="3231806" y="1029864"/>
        <a:ext cx="1291992" cy="516796"/>
      </dsp:txXfrm>
    </dsp:sp>
    <dsp:sp modelId="{8780B5C7-C2A6-4BC9-A01C-E62C9D484711}">
      <dsp:nvSpPr>
        <dsp:cNvPr id="0" name=""/>
        <dsp:cNvSpPr/>
      </dsp:nvSpPr>
      <dsp:spPr>
        <a:xfrm>
          <a:off x="5105194" y="243488"/>
          <a:ext cx="581396" cy="5813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2727AF-FDB9-4708-8BF6-3E3195119905}">
      <dsp:nvSpPr>
        <dsp:cNvPr id="0" name=""/>
        <dsp:cNvSpPr/>
      </dsp:nvSpPr>
      <dsp:spPr>
        <a:xfrm>
          <a:off x="4749897" y="1029864"/>
          <a:ext cx="1291992" cy="51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/>
            <a:t>Precipitation</a:t>
          </a:r>
          <a:endParaRPr lang="en-US" sz="1600" kern="1200"/>
        </a:p>
      </dsp:txBody>
      <dsp:txXfrm>
        <a:off x="4749897" y="1029864"/>
        <a:ext cx="1291992" cy="516796"/>
      </dsp:txXfrm>
    </dsp:sp>
    <dsp:sp modelId="{32F9EE0C-FE55-420D-A95D-E9FD8BB98BEE}">
      <dsp:nvSpPr>
        <dsp:cNvPr id="0" name=""/>
        <dsp:cNvSpPr/>
      </dsp:nvSpPr>
      <dsp:spPr>
        <a:xfrm>
          <a:off x="1309967" y="1869659"/>
          <a:ext cx="581396" cy="5813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6B544-D802-4C9E-8F48-5AD87E09DE02}">
      <dsp:nvSpPr>
        <dsp:cNvPr id="0" name=""/>
        <dsp:cNvSpPr/>
      </dsp:nvSpPr>
      <dsp:spPr>
        <a:xfrm>
          <a:off x="954670" y="2656034"/>
          <a:ext cx="1291992" cy="51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/>
            <a:t>Cloud Coverage</a:t>
          </a:r>
          <a:endParaRPr lang="en-US" sz="1600" kern="1200"/>
        </a:p>
      </dsp:txBody>
      <dsp:txXfrm>
        <a:off x="954670" y="2656034"/>
        <a:ext cx="1291992" cy="516796"/>
      </dsp:txXfrm>
    </dsp:sp>
    <dsp:sp modelId="{A6CBCB9A-ADF4-4BD6-A85D-A87CEF60F8C5}">
      <dsp:nvSpPr>
        <dsp:cNvPr id="0" name=""/>
        <dsp:cNvSpPr/>
      </dsp:nvSpPr>
      <dsp:spPr>
        <a:xfrm>
          <a:off x="2828058" y="1869659"/>
          <a:ext cx="581396" cy="58139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21A6B-754C-4340-8B33-31DBF611136D}">
      <dsp:nvSpPr>
        <dsp:cNvPr id="0" name=""/>
        <dsp:cNvSpPr/>
      </dsp:nvSpPr>
      <dsp:spPr>
        <a:xfrm>
          <a:off x="2472760" y="2656034"/>
          <a:ext cx="1291992" cy="51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/>
            <a:t>Sunshine duration</a:t>
          </a:r>
          <a:endParaRPr lang="en-US" sz="1600" kern="1200"/>
        </a:p>
      </dsp:txBody>
      <dsp:txXfrm>
        <a:off x="2472760" y="2656034"/>
        <a:ext cx="1291992" cy="516796"/>
      </dsp:txXfrm>
    </dsp:sp>
    <dsp:sp modelId="{2B12E9D6-8B7F-4037-AC6D-75C92411E22E}">
      <dsp:nvSpPr>
        <dsp:cNvPr id="0" name=""/>
        <dsp:cNvSpPr/>
      </dsp:nvSpPr>
      <dsp:spPr>
        <a:xfrm>
          <a:off x="4346149" y="1869659"/>
          <a:ext cx="581396" cy="581396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5466B-25DE-431A-B687-1E89FCC8CF3E}">
      <dsp:nvSpPr>
        <dsp:cNvPr id="0" name=""/>
        <dsp:cNvSpPr/>
      </dsp:nvSpPr>
      <dsp:spPr>
        <a:xfrm>
          <a:off x="3990851" y="2656034"/>
          <a:ext cx="1291992" cy="51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/>
            <a:t>Pressure</a:t>
          </a:r>
          <a:endParaRPr lang="en-US" sz="1600" kern="1200"/>
        </a:p>
      </dsp:txBody>
      <dsp:txXfrm>
        <a:off x="3990851" y="2656034"/>
        <a:ext cx="1291992" cy="51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B2B7C-5364-CB4F-88D1-D43D2AE70513}" type="datetimeFigureOut">
              <a:rPr lang="en-DE" smtClean="0"/>
              <a:t>22.01.26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251E7-85BE-8F48-B500-D5913BE7806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731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We also tried random forest!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251E7-85BE-8F48-B500-D5913BE7806A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76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We also tried a complex NN, but it performed worse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251E7-85BE-8F48-B500-D5913BE7806A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2282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8232-8FB1-06A6-F69C-AC8651E2A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B04AA-FEBD-771A-D4F0-9D3124039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799DB-2D09-CCF7-7513-93EC3247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D33CE-C520-D6BF-74AE-FCF5F7F33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D4C3A-0217-5D4D-5096-0F99C4AA3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62240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A0867-17E4-61E3-3DD8-B5CA2A23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A868-E178-07EA-B6D8-AD89BC124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CF444-EBB9-2703-3ED0-42ED1CD7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B04F5-9CD1-6A97-3578-7EC934592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1E884-C4F2-5269-A426-B3ADEE9F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128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98F57-2F76-C29D-6346-26B4C84BB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5ED62-626A-D487-63E5-1FCE2B737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0FD4-1912-433B-4046-8E1847F3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B821F-F8CF-3E63-1F73-720523BDF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3C4F0-1F68-EF5B-D19E-7A3C1E0C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6435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15C3-343D-2A50-A4E5-6114DB14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3995C-B11B-780E-8B37-3466D3CCAB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60908-A31B-556F-8382-8B557DE64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5275C-3766-E098-9642-227FE09E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FA8D9-9293-9CC9-F41F-5729E7CAA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068BD-4A28-FEF0-20A0-54286B0D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8099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32AEE-E82E-D155-3621-053C64FC1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286BD-F2C3-A449-BEFC-144E5847E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389A7-4DCC-D774-AFE9-AABA0DBB5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560FB-B840-E411-F212-C016D74CE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1579D-F9D3-39D2-D58D-28D3D947B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226F7C-DA52-6D98-16FE-95AB3146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DB020-F49E-6878-5B83-07C00842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C8AAEB-B97C-20E4-CC65-458211972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73251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1941F-DC4A-DD40-E9EC-8B50FE1FF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F3D49-52DC-5A57-046E-837419AC5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5C605E-96A6-641C-8104-D4084270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CEA11-24EA-4BFE-10F7-5537BBD0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011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274F-1175-16CD-C03E-3F3F667D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9C1AC2-E7EE-C6CF-0EE0-4F126311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FC6FD-6B2D-D26A-8577-949CAD27D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741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334D-7A40-6998-4A23-44D60C71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4BD94-349D-7000-108E-E1FC807A7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463F5-0B10-7E7C-11C8-D4BA54FBB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A5864-B358-FD11-BE83-0E2272DD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A8A29-F842-71D0-6F99-915FB80B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F7544-3D0B-84A8-CF4A-32565907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122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A2F9-9414-F475-34F6-316A1732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D6799-8575-629A-D381-F2A5A2D4C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433E4-4F0A-FE50-C9FB-AEFF8B4AE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B6E95-30E9-DDEE-9F05-1BF61C96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189F8-D88A-5813-6C62-1EBABB8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C76FA-6AA7-3695-05C0-8327D675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19133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7ECC-1F6B-7133-EC24-B8D6348A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2D0DD-1A67-A93C-E799-3AD11A9CE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6F4A8-9D9D-EDBE-F669-70F89E7C8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3489-FE9D-594B-9E10-2F2CEED0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126A6-3680-06FE-F8EC-7CA024A1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3790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FCA0CA-1E80-B09F-30E0-6B1FCA57D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B5149E-1993-543A-D8E5-E350C9735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E2B0-F523-43FD-EB50-8E82EFC4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90C4C-F2A7-FD72-535D-E573423DB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E007F-29F3-33D5-773F-4E245D78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980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1BA7B-7755-0FED-0061-1BD6BE60F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3C29F-3E2B-C1E6-D6F0-5EF268F07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C2190-9A2B-9C14-868A-CDCD9C146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4FEF-4341-E76F-B826-33B5F4258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E1831-7BBD-E1A6-D1DE-209534D52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A51EC-F083-EC45-A9D3-7A3196159AB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0564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olar panels on a roof&#10;&#10;AI-generated content may be incorrect.">
            <a:extLst>
              <a:ext uri="{FF2B5EF4-FFF2-40B4-BE49-F238E27FC236}">
                <a16:creationId xmlns:a16="http://schemas.microsoft.com/office/drawing/2014/main" id="{6C318F83-5EF7-9411-CD38-24D680E63B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481" b="23940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8FC1B3-7831-8A25-C6F0-118228F4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413997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b="1" dirty="0"/>
              <a:t>Renewable Energy Generation Prediction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E9D17AA-3926-8483-370B-E48EA8E62F53}"/>
              </a:ext>
            </a:extLst>
          </p:cNvPr>
          <p:cNvSpPr txBox="1"/>
          <p:nvPr/>
        </p:nvSpPr>
        <p:spPr>
          <a:xfrm>
            <a:off x="4223982" y="3752850"/>
            <a:ext cx="7485413" cy="31051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10000"/>
              </a:lnSpc>
              <a:defRPr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Weather Data and Machine Learning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Christoph </a:t>
            </a:r>
            <a:r>
              <a:rPr lang="en-US" sz="2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Emeis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Jessica Voß, Hossam </a:t>
            </a:r>
            <a:r>
              <a:rPr lang="en-US" sz="20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Oraby</a:t>
            </a: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22.01.2026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Graphic 5" descr="Dim (Medium Sun) outline">
            <a:extLst>
              <a:ext uri="{FF2B5EF4-FFF2-40B4-BE49-F238E27FC236}">
                <a16:creationId xmlns:a16="http://schemas.microsoft.com/office/drawing/2014/main" id="{08524F87-C0AD-2CBA-4308-3E2D75B1B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545771" cy="15457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EEDCBB-89CF-1536-04A4-54484D3A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28444"/>
          </a:xfrm>
        </p:spPr>
        <p:txBody>
          <a:bodyPr>
            <a:normAutofit/>
          </a:bodyPr>
          <a:lstStyle/>
          <a:p>
            <a:r>
              <a:rPr lang="en-DE" sz="5200" b="1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A5B3C-DA55-CF0B-A773-53EBC06B6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98626"/>
            <a:ext cx="5158427" cy="226580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E" sz="2000" u="sng" dirty="0"/>
              <a:t>Problem:</a:t>
            </a:r>
          </a:p>
          <a:p>
            <a:pPr marL="0" indent="0">
              <a:buNone/>
            </a:pPr>
            <a:r>
              <a:rPr lang="en-GB" sz="2000" dirty="0"/>
              <a:t>Accurately predict daily solar PV power generation on privately owned solar plants using weather (forecast) data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>
                <a:sym typeface="Wingdings" pitchFamily="2" charset="2"/>
              </a:rPr>
              <a:t> Regression Task using time series</a:t>
            </a:r>
            <a:endParaRPr lang="en-DE" sz="2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71BA2C-C637-FDFF-729C-E1B770284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9154" y="2398626"/>
            <a:ext cx="5164645" cy="1324288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DE" sz="2000" dirty="0"/>
              <a:t>Using own data collections</a:t>
            </a:r>
          </a:p>
          <a:p>
            <a:pPr marL="0" indent="0">
              <a:buNone/>
            </a:pPr>
            <a:r>
              <a:rPr lang="en-DE" sz="2000" dirty="0"/>
              <a:t>Time period:  Jun 2023- Jan 2026</a:t>
            </a:r>
          </a:p>
          <a:p>
            <a:pPr marL="0" indent="0">
              <a:buNone/>
            </a:pPr>
            <a:r>
              <a:rPr lang="en-DE" sz="2000" dirty="0"/>
              <a:t>Locations: Dobersdorf &amp; Elmshorn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C73991-1ECA-A4F9-8202-5B2C7143C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6CB4B4D-7CA3-9044-876B-883B54F8677D}" type="slidenum">
              <a:rPr lang="en-DE"/>
              <a:pPr>
                <a:spcAft>
                  <a:spcPts val="600"/>
                </a:spcAft>
              </a:pPr>
              <a:t>2</a:t>
            </a:fld>
            <a:endParaRPr lang="en-DE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E6B9F1D-D680-F8B2-BB73-64ED3D43CD32}"/>
              </a:ext>
            </a:extLst>
          </p:cNvPr>
          <p:cNvSpPr txBox="1">
            <a:spLocks/>
          </p:cNvSpPr>
          <p:nvPr/>
        </p:nvSpPr>
        <p:spPr>
          <a:xfrm>
            <a:off x="6252654" y="4036926"/>
            <a:ext cx="5164645" cy="132428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DE" sz="2000" dirty="0"/>
              <a:t>Use case:</a:t>
            </a:r>
            <a:br>
              <a:rPr lang="en-DE" sz="2000" dirty="0"/>
            </a:br>
            <a:r>
              <a:rPr lang="en-DE" sz="2000" dirty="0"/>
              <a:t>When should I charge the electric car this week?</a:t>
            </a:r>
          </a:p>
        </p:txBody>
      </p:sp>
    </p:spTree>
    <p:extLst>
      <p:ext uri="{BB962C8B-B14F-4D97-AF65-F5344CB8AC3E}">
        <p14:creationId xmlns:p14="http://schemas.microsoft.com/office/powerpoint/2010/main" val="3148988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F092-8342-2BDF-5916-F4A875A85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3686-A09B-AE9D-AF45-6BBE0C9C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Literature Review</a:t>
            </a:r>
            <a:endParaRPr lang="en-DE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3776940-1553-108F-41EF-DA6C1CFC48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066250"/>
              </p:ext>
            </p:extLst>
          </p:nvPr>
        </p:nvGraphicFramePr>
        <p:xfrm>
          <a:off x="838200" y="1825625"/>
          <a:ext cx="10515597" cy="407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215217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9338256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53960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E"/>
                        <a:t>Paper name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Forecasting renewable energy for microgrids using machine learning (2025)</a:t>
                      </a:r>
                      <a:endParaRPr lang="en-GB" sz="18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1" i="0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Towards Accurate Forecasting of Renewable Energy: Building Datasets and Benchmarking Machine Learning Models for Solar and Wind Power in France </a:t>
                      </a:r>
                      <a:r>
                        <a:rPr lang="en-GB" sz="1600" b="1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(2025)</a:t>
                      </a:r>
                      <a:endParaRPr lang="en-DE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305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/>
                        <a:t>Description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Generation prediction using local parameters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Nationwide generation prediction using weighted weather maps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210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/>
                        <a:t>Models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Baseline, CNN, LSTM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Random forest, Neural Network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54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/>
                        <a:t>Parameters/Variables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7 (without sunlight data)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10 (with solar radiation)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212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/>
                        <a:t>Focus of the analysis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Evalution metrics (</a:t>
                      </a:r>
                      <a:r>
                        <a:rPr lang="en-DE" b="1" dirty="0"/>
                        <a:t>RMSE</a:t>
                      </a:r>
                      <a:r>
                        <a:rPr lang="en-DE" dirty="0"/>
                        <a:t>, MSE, MAE)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Cross-validation (</a:t>
                      </a:r>
                      <a:r>
                        <a:rPr lang="en-DE" b="1" dirty="0"/>
                        <a:t>Hold-out</a:t>
                      </a:r>
                      <a:r>
                        <a:rPr lang="en-DE" dirty="0"/>
                        <a:t>, K-Fold, Blocking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38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/>
                        <a:t>Best model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CNN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CNN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261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/>
                        <a:t>Reference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Discov Appl Sci</a:t>
                      </a:r>
                      <a:r>
                        <a:rPr lang="en-GB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GB" sz="1800" b="1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en-GB" sz="18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449 (2025)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arXiv:2504.16100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19442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E855B-63FE-C136-3239-9201B2BB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D6ADB-685A-051B-CC3B-C548D7EF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3FAC2-A9B9-1A54-F216-3C4F26BC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2833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19FBE-3387-3EEA-FA4D-AA299C12A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17904-8E7C-D3D3-7AFC-15B2BEE36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 b="1" dirty="0"/>
              <a:t>Dataset Characteristics</a:t>
            </a:r>
            <a:endParaRPr lang="en-DE" sz="4200" dirty="0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2C4FB51-ECFA-8050-7DDC-338AD0BDD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1233516"/>
          </a:xfrm>
        </p:spPr>
        <p:txBody>
          <a:bodyPr>
            <a:normAutofit/>
          </a:bodyPr>
          <a:lstStyle/>
          <a:p>
            <a:r>
              <a:rPr lang="en-DE" sz="2200" dirty="0"/>
              <a:t>The solar production of two privatly owned roof solar panels</a:t>
            </a:r>
          </a:p>
          <a:p>
            <a:r>
              <a:rPr lang="en-DE" sz="2200" dirty="0"/>
              <a:t>Jun 2023- 15.01.2026</a:t>
            </a:r>
          </a:p>
          <a:p>
            <a:pPr marL="0" indent="0">
              <a:buNone/>
            </a:pPr>
            <a:endParaRPr lang="en-DE" sz="2200" dirty="0"/>
          </a:p>
          <a:p>
            <a:pPr marL="0" indent="0">
              <a:buNone/>
            </a:pPr>
            <a:endParaRPr lang="en-DE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F1444-64E8-184E-87D4-82B58084E2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22.01.26</a:t>
            </a:r>
            <a:endParaRPr lang="en-DE"/>
          </a:p>
        </p:txBody>
      </p:sp>
      <p:pic>
        <p:nvPicPr>
          <p:cNvPr id="13" name="Picture 12" descr="A map of a country&#10;&#10;AI-generated content may be incorrect.">
            <a:extLst>
              <a:ext uri="{FF2B5EF4-FFF2-40B4-BE49-F238E27FC236}">
                <a16:creationId xmlns:a16="http://schemas.microsoft.com/office/drawing/2014/main" id="{C3E91C78-9564-DD35-5EE2-8A53C00F2A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1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3F7A2-6E43-19F1-4437-564AC507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Machine Learning with Tensorflow</a:t>
            </a:r>
            <a:endParaRPr lang="en-DE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F4216-C5F1-C737-9B15-4982CB1F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DA51EC-F083-EC45-A9D3-7A3196159AB2}" type="slidenum">
              <a:rPr lang="en-DE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DE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6628F-12CE-AA46-2B05-ED6E8538D534}"/>
              </a:ext>
            </a:extLst>
          </p:cNvPr>
          <p:cNvSpPr txBox="1"/>
          <p:nvPr/>
        </p:nvSpPr>
        <p:spPr>
          <a:xfrm>
            <a:off x="6094476" y="80894"/>
            <a:ext cx="5940552" cy="369332"/>
          </a:xfrm>
          <a:prstGeom prst="rect">
            <a:avLst/>
          </a:prstGeom>
          <a:solidFill>
            <a:srgbClr val="FFFFFF">
              <a:alpha val="60000"/>
            </a:srgbClr>
          </a:solidFill>
        </p:spPr>
        <p:txBody>
          <a:bodyPr wrap="square" rtlCol="0">
            <a:spAutoFit/>
          </a:bodyPr>
          <a:lstStyle/>
          <a:p>
            <a:r>
              <a:rPr lang="en-DE" dirty="0"/>
              <a:t>Locations: Elmshorn and Dobersdorf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D4EA9038-8771-B817-0421-5166A5A32B03}"/>
              </a:ext>
            </a:extLst>
          </p:cNvPr>
          <p:cNvSpPr txBox="1">
            <a:spLocks/>
          </p:cNvSpPr>
          <p:nvPr/>
        </p:nvSpPr>
        <p:spPr>
          <a:xfrm>
            <a:off x="638555" y="3252791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sz="2200" dirty="0"/>
              <a:t>Obtained weather data from DWD (</a:t>
            </a:r>
            <a:r>
              <a:rPr lang="en-GB" sz="2200" dirty="0"/>
              <a:t>German Meteorological Service)</a:t>
            </a:r>
          </a:p>
          <a:p>
            <a:r>
              <a:rPr lang="en-GB" sz="2200" dirty="0"/>
              <a:t>Chose the closed weather stations</a:t>
            </a:r>
          </a:p>
          <a:p>
            <a:r>
              <a:rPr lang="en-GB" sz="2200" dirty="0"/>
              <a:t>Various measured parameters</a:t>
            </a:r>
            <a:endParaRPr lang="en-DE" sz="2200" dirty="0"/>
          </a:p>
        </p:txBody>
      </p:sp>
      <p:sp>
        <p:nvSpPr>
          <p:cNvPr id="9" name="5-point Star 8">
            <a:extLst>
              <a:ext uri="{FF2B5EF4-FFF2-40B4-BE49-F238E27FC236}">
                <a16:creationId xmlns:a16="http://schemas.microsoft.com/office/drawing/2014/main" id="{791A68A6-5DBA-C3CB-C11E-66789B877FAF}"/>
              </a:ext>
            </a:extLst>
          </p:cNvPr>
          <p:cNvSpPr/>
          <p:nvPr/>
        </p:nvSpPr>
        <p:spPr>
          <a:xfrm>
            <a:off x="8245929" y="816429"/>
            <a:ext cx="277585" cy="261257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5-point Star 9">
            <a:extLst>
              <a:ext uri="{FF2B5EF4-FFF2-40B4-BE49-F238E27FC236}">
                <a16:creationId xmlns:a16="http://schemas.microsoft.com/office/drawing/2014/main" id="{16D174CE-FAF2-E5D6-44F3-5DCEA3A5A007}"/>
              </a:ext>
            </a:extLst>
          </p:cNvPr>
          <p:cNvSpPr/>
          <p:nvPr/>
        </p:nvSpPr>
        <p:spPr>
          <a:xfrm>
            <a:off x="10110434" y="5588907"/>
            <a:ext cx="277585" cy="261257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1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1" grpId="1" build="p"/>
      <p:bldP spid="8" grpId="0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EC85E-3E04-670F-E2B3-0ACD3701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73367C-EB38-150A-1018-6462FF416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1E255-28CF-5893-5780-39237E0B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200" b="1" dirty="0"/>
              <a:t>Dataset Characteristics</a:t>
            </a:r>
            <a:endParaRPr lang="en-DE" sz="4200" dirty="0"/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1A548282-E34D-26A1-2451-129530106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3744C-CFCA-D921-D056-AAF6C22867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7F08F-273D-5C0F-ABC8-DF28AB564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356350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Machine Learning with Tensorflow</a:t>
            </a:r>
            <a:endParaRPr lang="en-DE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18AC4-258A-85EF-C180-B42B7867A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DA51EC-F083-EC45-A9D3-7A3196159AB2}" type="slidenum">
              <a:rPr lang="en-DE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DE">
              <a:solidFill>
                <a:srgbClr val="FFFFFF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59365E-A8CA-AF28-FAFB-79AE0665C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3088965"/>
            <a:ext cx="3902529" cy="3443666"/>
          </a:xfrm>
        </p:spPr>
        <p:txBody>
          <a:bodyPr/>
          <a:lstStyle/>
          <a:p>
            <a:pPr marL="0" indent="0">
              <a:buNone/>
            </a:pPr>
            <a:r>
              <a:rPr lang="en-DE" u="sng" dirty="0"/>
              <a:t>Energy Production:</a:t>
            </a:r>
          </a:p>
          <a:p>
            <a:r>
              <a:rPr lang="en-DE" dirty="0"/>
              <a:t>Daily data (916 days)</a:t>
            </a:r>
          </a:p>
          <a:p>
            <a:r>
              <a:rPr lang="en-DE" dirty="0"/>
              <a:t>0- 90 kWh daily generation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EF19A7-BC45-E425-93ED-662D83F49D64}"/>
              </a:ext>
            </a:extLst>
          </p:cNvPr>
          <p:cNvSpPr txBox="1"/>
          <p:nvPr/>
        </p:nvSpPr>
        <p:spPr>
          <a:xfrm>
            <a:off x="6580414" y="5586818"/>
            <a:ext cx="5110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Missing values were set to 0</a:t>
            </a:r>
          </a:p>
        </p:txBody>
      </p:sp>
      <p:graphicFrame>
        <p:nvGraphicFramePr>
          <p:cNvPr id="22" name="TextBox 11">
            <a:extLst>
              <a:ext uri="{FF2B5EF4-FFF2-40B4-BE49-F238E27FC236}">
                <a16:creationId xmlns:a16="http://schemas.microsoft.com/office/drawing/2014/main" id="{63001D61-3A5A-AC09-1792-9E01B70391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010499"/>
              </p:ext>
            </p:extLst>
          </p:nvPr>
        </p:nvGraphicFramePr>
        <p:xfrm>
          <a:off x="5321591" y="1720840"/>
          <a:ext cx="623751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9149E93-A199-8AFE-22F7-FC4C22084EC8}"/>
              </a:ext>
            </a:extLst>
          </p:cNvPr>
          <p:cNvSpPr txBox="1"/>
          <p:nvPr/>
        </p:nvSpPr>
        <p:spPr>
          <a:xfrm>
            <a:off x="6972300" y="1074927"/>
            <a:ext cx="4920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800" u="sng" dirty="0"/>
              <a:t>Weather data: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68D7B06-5CF1-EEF2-4FDA-7438EEC123D3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B712D37-83B0-5A87-DF1F-5A42C694F48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DA51EC-F083-EC45-A9D3-7A3196159AB2}" type="slidenum">
              <a:rPr lang="en-DE" smtClean="0"/>
              <a:pPr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5070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AD6E-3F0D-40A2-68E4-AB22FDE4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9B028-6632-784C-6EA8-85417367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 b="1"/>
              <a:t>Baseline Models</a:t>
            </a:r>
            <a:endParaRPr lang="en-DE" sz="50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969C4-F706-2A8F-1C65-E6E7408E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DE" sz="2200" dirty="0"/>
              <a:t>Simple neural network: </a:t>
            </a:r>
            <a:br>
              <a:rPr lang="en-DE" sz="2200" dirty="0"/>
            </a:br>
            <a:r>
              <a:rPr lang="en-DE" sz="2200" dirty="0"/>
              <a:t>2 Input variables </a:t>
            </a:r>
            <a:br>
              <a:rPr lang="en-DE" sz="2200" dirty="0"/>
            </a:br>
            <a:r>
              <a:rPr lang="en-DE" sz="2200" dirty="0"/>
              <a:t>(mean temperature </a:t>
            </a:r>
            <a:br>
              <a:rPr lang="en-DE" sz="2200" dirty="0"/>
            </a:br>
            <a:r>
              <a:rPr lang="en-DE" sz="2200" dirty="0"/>
              <a:t>&amp; sunlight duration)</a:t>
            </a:r>
          </a:p>
          <a:p>
            <a:r>
              <a:rPr lang="en-DE" sz="2200" dirty="0"/>
              <a:t>1 hiden layer with 2 nodes, </a:t>
            </a:r>
            <a:br>
              <a:rPr lang="en-DE" sz="2200" dirty="0"/>
            </a:br>
            <a:r>
              <a:rPr lang="en-DE" sz="2200" dirty="0"/>
              <a:t>ReLU acctivation, </a:t>
            </a:r>
            <a:br>
              <a:rPr lang="en-DE" sz="2200" dirty="0"/>
            </a:br>
            <a:r>
              <a:rPr lang="en-DE" sz="2200" dirty="0"/>
              <a:t>MAE, ADAM, lr=0.001</a:t>
            </a:r>
          </a:p>
          <a:p>
            <a:r>
              <a:rPr lang="en-DE" sz="2200" dirty="0"/>
              <a:t>Run Time &lt; 4s</a:t>
            </a:r>
          </a:p>
          <a:p>
            <a:r>
              <a:rPr lang="en-GB" sz="2200" dirty="0"/>
              <a:t>Accuracy</a:t>
            </a:r>
            <a:r>
              <a:rPr lang="en-DE" sz="2200" dirty="0"/>
              <a:t> ~ 91%</a:t>
            </a:r>
          </a:p>
          <a:p>
            <a:pPr marL="0" indent="0">
              <a:buNone/>
            </a:pPr>
            <a:endParaRPr lang="en-DE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3AE2E-BBAA-8CF4-1739-4F54F5CD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A42C3-B774-F0E7-4698-AD6D106D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0ABA9-C2C9-2142-F67C-7DC53F13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DA51EC-F083-EC45-A9D3-7A3196159AB2}" type="slidenum">
              <a:rPr lang="en-DE" smtClean="0"/>
              <a:pPr>
                <a:spcAft>
                  <a:spcPts val="600"/>
                </a:spcAft>
              </a:pPr>
              <a:t>6</a:t>
            </a:fld>
            <a:endParaRPr lang="en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EBB76E-3774-175A-2309-A7A56D775A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8803" y="1261782"/>
            <a:ext cx="63119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CBA30-63CB-5723-5D2C-F1C381605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0902-D3F5-93B8-F097-A0E255A5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Advanced Model - LSTM Architecture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8F3FC-A045-947D-9B3E-3B2E1B39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55B05-4DE4-4703-2A44-14C16ACD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FE05D-8F3F-3730-2FCC-0C45A7DA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7</a:t>
            </a:fld>
            <a:endParaRPr lang="en-DE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A25ABB-8D1F-0757-E8B2-2DD91A46E3F3}"/>
              </a:ext>
            </a:extLst>
          </p:cNvPr>
          <p:cNvGrpSpPr/>
          <p:nvPr/>
        </p:nvGrpSpPr>
        <p:grpSpPr>
          <a:xfrm>
            <a:off x="848690" y="1630419"/>
            <a:ext cx="5435374" cy="4675564"/>
            <a:chOff x="-629680" y="-68988"/>
            <a:chExt cx="6850063" cy="5715001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ED608085-8919-4383-2017-3C3153983E7C}"/>
                </a:ext>
              </a:extLst>
            </p:cNvPr>
            <p:cNvSpPr/>
            <p:nvPr/>
          </p:nvSpPr>
          <p:spPr>
            <a:xfrm>
              <a:off x="-629680" y="-68988"/>
              <a:ext cx="6850063" cy="5715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0" y="0"/>
                  </a:moveTo>
                  <a:lnTo>
                    <a:pt x="21300" y="0"/>
                  </a:lnTo>
                  <a:cubicBezTo>
                    <a:pt x="21466" y="0"/>
                    <a:pt x="21600" y="161"/>
                    <a:pt x="21600" y="360"/>
                  </a:cubicBezTo>
                  <a:lnTo>
                    <a:pt x="21600" y="21240"/>
                  </a:lnTo>
                  <a:cubicBezTo>
                    <a:pt x="21600" y="21439"/>
                    <a:pt x="21466" y="21600"/>
                    <a:pt x="21300" y="21600"/>
                  </a:cubicBezTo>
                  <a:lnTo>
                    <a:pt x="300" y="21600"/>
                  </a:lnTo>
                  <a:cubicBezTo>
                    <a:pt x="134" y="21600"/>
                    <a:pt x="0" y="21439"/>
                    <a:pt x="0" y="21240"/>
                  </a:cubicBezTo>
                  <a:lnTo>
                    <a:pt x="0" y="360"/>
                  </a:lnTo>
                  <a:cubicBezTo>
                    <a:pt x="0" y="161"/>
                    <a:pt x="135" y="0"/>
                    <a:pt x="30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E2E8F0"/>
              </a:solidFill>
            </a:ln>
            <a:effectLst>
              <a:outerShdw blurRad="114300" dist="79375" dir="5400000" rotWithShape="0">
                <a:srgbClr val="000000">
                  <a:alpha val="10196"/>
                </a:srgbClr>
              </a:outerShdw>
            </a:effectLst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F40C1B3E-EBA5-127D-E981-6EFA69EA1BDE}"/>
                </a:ext>
              </a:extLst>
            </p:cNvPr>
            <p:cNvSpPr/>
            <p:nvPr/>
          </p:nvSpPr>
          <p:spPr>
            <a:xfrm>
              <a:off x="-411399" y="149301"/>
              <a:ext cx="190501" cy="190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55" extrusionOk="0">
                  <a:moveTo>
                    <a:pt x="9809" y="217"/>
                  </a:moveTo>
                  <a:cubicBezTo>
                    <a:pt x="10437" y="-72"/>
                    <a:pt x="11163" y="-72"/>
                    <a:pt x="11791" y="217"/>
                  </a:cubicBezTo>
                  <a:lnTo>
                    <a:pt x="21014" y="4450"/>
                  </a:lnTo>
                  <a:cubicBezTo>
                    <a:pt x="21372" y="4613"/>
                    <a:pt x="21600" y="4970"/>
                    <a:pt x="21600" y="5364"/>
                  </a:cubicBezTo>
                  <a:cubicBezTo>
                    <a:pt x="21600" y="5758"/>
                    <a:pt x="21372" y="6114"/>
                    <a:pt x="21014" y="6277"/>
                  </a:cubicBezTo>
                  <a:lnTo>
                    <a:pt x="11791" y="10510"/>
                  </a:lnTo>
                  <a:cubicBezTo>
                    <a:pt x="11163" y="10799"/>
                    <a:pt x="10437" y="10799"/>
                    <a:pt x="9809" y="10510"/>
                  </a:cubicBezTo>
                  <a:lnTo>
                    <a:pt x="586" y="6277"/>
                  </a:lnTo>
                  <a:cubicBezTo>
                    <a:pt x="228" y="6110"/>
                    <a:pt x="0" y="5753"/>
                    <a:pt x="0" y="5364"/>
                  </a:cubicBezTo>
                  <a:cubicBezTo>
                    <a:pt x="0" y="4974"/>
                    <a:pt x="228" y="4613"/>
                    <a:pt x="586" y="4450"/>
                  </a:cubicBezTo>
                  <a:lnTo>
                    <a:pt x="9809" y="217"/>
                  </a:lnTo>
                  <a:close/>
                  <a:moveTo>
                    <a:pt x="2029" y="9152"/>
                  </a:moveTo>
                  <a:lnTo>
                    <a:pt x="8961" y="12333"/>
                  </a:lnTo>
                  <a:cubicBezTo>
                    <a:pt x="10129" y="12870"/>
                    <a:pt x="11475" y="12870"/>
                    <a:pt x="12644" y="12333"/>
                  </a:cubicBezTo>
                  <a:lnTo>
                    <a:pt x="19575" y="9152"/>
                  </a:lnTo>
                  <a:lnTo>
                    <a:pt x="21014" y="9814"/>
                  </a:lnTo>
                  <a:cubicBezTo>
                    <a:pt x="21372" y="9978"/>
                    <a:pt x="21600" y="10334"/>
                    <a:pt x="21600" y="10728"/>
                  </a:cubicBezTo>
                  <a:cubicBezTo>
                    <a:pt x="21600" y="11122"/>
                    <a:pt x="21372" y="11478"/>
                    <a:pt x="21014" y="11642"/>
                  </a:cubicBezTo>
                  <a:lnTo>
                    <a:pt x="11791" y="15874"/>
                  </a:lnTo>
                  <a:cubicBezTo>
                    <a:pt x="11163" y="16164"/>
                    <a:pt x="10437" y="16164"/>
                    <a:pt x="9809" y="15874"/>
                  </a:cubicBezTo>
                  <a:lnTo>
                    <a:pt x="586" y="11642"/>
                  </a:lnTo>
                  <a:cubicBezTo>
                    <a:pt x="228" y="11474"/>
                    <a:pt x="0" y="11118"/>
                    <a:pt x="0" y="10728"/>
                  </a:cubicBezTo>
                  <a:cubicBezTo>
                    <a:pt x="0" y="10338"/>
                    <a:pt x="228" y="9978"/>
                    <a:pt x="586" y="9814"/>
                  </a:cubicBezTo>
                  <a:lnTo>
                    <a:pt x="2025" y="9152"/>
                  </a:lnTo>
                  <a:close/>
                  <a:moveTo>
                    <a:pt x="586" y="15179"/>
                  </a:moveTo>
                  <a:lnTo>
                    <a:pt x="2025" y="14517"/>
                  </a:lnTo>
                  <a:lnTo>
                    <a:pt x="8956" y="17697"/>
                  </a:lnTo>
                  <a:cubicBezTo>
                    <a:pt x="10125" y="18234"/>
                    <a:pt x="11471" y="18234"/>
                    <a:pt x="12639" y="17697"/>
                  </a:cubicBezTo>
                  <a:lnTo>
                    <a:pt x="19571" y="14517"/>
                  </a:lnTo>
                  <a:lnTo>
                    <a:pt x="21009" y="15179"/>
                  </a:lnTo>
                  <a:cubicBezTo>
                    <a:pt x="21368" y="15342"/>
                    <a:pt x="21596" y="15698"/>
                    <a:pt x="21596" y="16092"/>
                  </a:cubicBezTo>
                  <a:cubicBezTo>
                    <a:pt x="21596" y="16486"/>
                    <a:pt x="21368" y="16843"/>
                    <a:pt x="21009" y="17006"/>
                  </a:cubicBezTo>
                  <a:lnTo>
                    <a:pt x="11787" y="21239"/>
                  </a:lnTo>
                  <a:cubicBezTo>
                    <a:pt x="11159" y="21528"/>
                    <a:pt x="10433" y="21528"/>
                    <a:pt x="9804" y="21239"/>
                  </a:cubicBezTo>
                  <a:lnTo>
                    <a:pt x="586" y="17006"/>
                  </a:lnTo>
                  <a:cubicBezTo>
                    <a:pt x="228" y="16838"/>
                    <a:pt x="0" y="16482"/>
                    <a:pt x="0" y="16092"/>
                  </a:cubicBezTo>
                  <a:cubicBezTo>
                    <a:pt x="0" y="15703"/>
                    <a:pt x="228" y="15342"/>
                    <a:pt x="586" y="15179"/>
                  </a:cubicBezTo>
                  <a:close/>
                </a:path>
              </a:pathLst>
            </a:custGeom>
            <a:solidFill>
              <a:srgbClr val="8B5CF6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4DC4B962-0287-2633-E426-9FE05F973413}"/>
                </a:ext>
              </a:extLst>
            </p:cNvPr>
            <p:cNvSpPr txBox="1"/>
            <p:nvPr/>
          </p:nvSpPr>
          <p:spPr>
            <a:xfrm>
              <a:off x="-157400" y="134212"/>
              <a:ext cx="6278565" cy="2286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10000"/>
                </a:lnSpc>
                <a:defRPr sz="1500" b="1">
                  <a:solidFill>
                    <a:srgbClr val="1E293B"/>
                  </a:solidFill>
                  <a:latin typeface="Liter"/>
                  <a:ea typeface="Liter"/>
                  <a:cs typeface="Liter"/>
                  <a:sym typeface="Liter"/>
                </a:defRPr>
              </a:lvl1pPr>
            </a:lstStyle>
            <a:p>
              <a:r>
                <a:t>Neural Network Architecture</a:t>
              </a:r>
            </a:p>
          </p:txBody>
        </p:sp>
        <p:sp>
          <p:nvSpPr>
            <p:cNvPr id="15" name="Shape 5">
              <a:extLst>
                <a:ext uri="{FF2B5EF4-FFF2-40B4-BE49-F238E27FC236}">
                  <a16:creationId xmlns:a16="http://schemas.microsoft.com/office/drawing/2014/main" id="{7F1CB3D6-E589-54C5-0EE2-2EADF7B477BD}"/>
                </a:ext>
              </a:extLst>
            </p:cNvPr>
            <p:cNvSpPr/>
            <p:nvPr/>
          </p:nvSpPr>
          <p:spPr>
            <a:xfrm>
              <a:off x="-431244" y="502512"/>
              <a:ext cx="6453189" cy="896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lnTo>
                    <a:pt x="21387" y="0"/>
                  </a:lnTo>
                  <a:cubicBezTo>
                    <a:pt x="21505" y="0"/>
                    <a:pt x="21600" y="685"/>
                    <a:pt x="21600" y="1529"/>
                  </a:cubicBezTo>
                  <a:lnTo>
                    <a:pt x="21600" y="20071"/>
                  </a:lnTo>
                  <a:cubicBezTo>
                    <a:pt x="21600" y="20915"/>
                    <a:pt x="21505" y="21600"/>
                    <a:pt x="21387" y="21600"/>
                  </a:cubicBezTo>
                  <a:lnTo>
                    <a:pt x="213" y="21600"/>
                  </a:lnTo>
                  <a:cubicBezTo>
                    <a:pt x="95" y="21600"/>
                    <a:pt x="0" y="20915"/>
                    <a:pt x="0" y="20071"/>
                  </a:cubicBezTo>
                  <a:lnTo>
                    <a:pt x="0" y="1529"/>
                  </a:lnTo>
                  <a:cubicBezTo>
                    <a:pt x="0" y="685"/>
                    <a:pt x="95" y="0"/>
                    <a:pt x="213" y="0"/>
                  </a:cubicBezTo>
                  <a:close/>
                </a:path>
              </a:pathLst>
            </a:custGeom>
            <a:gradFill>
              <a:gsLst>
                <a:gs pos="0">
                  <a:srgbClr val="3B82F6">
                    <a:alpha val="10000"/>
                  </a:srgbClr>
                </a:gs>
                <a:gs pos="100000">
                  <a:srgbClr val="1E40AF">
                    <a:alpha val="10000"/>
                  </a:srgbClr>
                </a:gs>
              </a:gsLst>
            </a:gradFill>
            <a:ln w="12700">
              <a:solidFill>
                <a:srgbClr val="3B82F6">
                  <a:alpha val="30196"/>
                </a:srgbClr>
              </a:solidFill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BB51EC06-6F5C-5C7B-89DC-5458B67FEC4A}"/>
                </a:ext>
              </a:extLst>
            </p:cNvPr>
            <p:cNvSpPr/>
            <p:nvPr/>
          </p:nvSpPr>
          <p:spPr>
            <a:xfrm>
              <a:off x="-300274" y="696981"/>
              <a:ext cx="508001" cy="50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00" y="0"/>
                  </a:moveTo>
                  <a:lnTo>
                    <a:pt x="18900" y="0"/>
                  </a:lnTo>
                  <a:cubicBezTo>
                    <a:pt x="20390" y="0"/>
                    <a:pt x="21600" y="1210"/>
                    <a:pt x="21600" y="2700"/>
                  </a:cubicBezTo>
                  <a:lnTo>
                    <a:pt x="21600" y="18900"/>
                  </a:lnTo>
                  <a:cubicBezTo>
                    <a:pt x="21600" y="20390"/>
                    <a:pt x="20390" y="21600"/>
                    <a:pt x="18900" y="21600"/>
                  </a:cubicBezTo>
                  <a:lnTo>
                    <a:pt x="2700" y="21600"/>
                  </a:lnTo>
                  <a:cubicBezTo>
                    <a:pt x="1210" y="21600"/>
                    <a:pt x="0" y="20390"/>
                    <a:pt x="0" y="18900"/>
                  </a:cubicBezTo>
                  <a:lnTo>
                    <a:pt x="0" y="2700"/>
                  </a:lnTo>
                  <a:cubicBezTo>
                    <a:pt x="0" y="1210"/>
                    <a:pt x="1210" y="0"/>
                    <a:pt x="2700" y="0"/>
                  </a:cubicBezTo>
                  <a:close/>
                </a:path>
              </a:pathLst>
            </a:custGeom>
            <a:solidFill>
              <a:srgbClr val="3B82F6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99114625-FD23-97B8-7B4A-7FF225E38E45}"/>
                </a:ext>
              </a:extLst>
            </p:cNvPr>
            <p:cNvSpPr/>
            <p:nvPr/>
          </p:nvSpPr>
          <p:spPr>
            <a:xfrm>
              <a:off x="-135386" y="851619"/>
              <a:ext cx="178483" cy="1987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72" extrusionOk="0">
                  <a:moveTo>
                    <a:pt x="9357" y="342"/>
                  </a:moveTo>
                  <a:cubicBezTo>
                    <a:pt x="10248" y="-114"/>
                    <a:pt x="11347" y="-114"/>
                    <a:pt x="12239" y="342"/>
                  </a:cubicBezTo>
                  <a:lnTo>
                    <a:pt x="20159" y="4404"/>
                  </a:lnTo>
                  <a:cubicBezTo>
                    <a:pt x="21051" y="4860"/>
                    <a:pt x="21600" y="5708"/>
                    <a:pt x="21600" y="6621"/>
                  </a:cubicBezTo>
                  <a:lnTo>
                    <a:pt x="21600" y="14744"/>
                  </a:lnTo>
                  <a:cubicBezTo>
                    <a:pt x="21600" y="15660"/>
                    <a:pt x="21051" y="16504"/>
                    <a:pt x="20159" y="16960"/>
                  </a:cubicBezTo>
                  <a:lnTo>
                    <a:pt x="12239" y="21030"/>
                  </a:lnTo>
                  <a:cubicBezTo>
                    <a:pt x="11347" y="21486"/>
                    <a:pt x="10248" y="21486"/>
                    <a:pt x="9357" y="21030"/>
                  </a:cubicBezTo>
                  <a:lnTo>
                    <a:pt x="1441" y="16968"/>
                  </a:lnTo>
                  <a:cubicBezTo>
                    <a:pt x="549" y="16512"/>
                    <a:pt x="0" y="15664"/>
                    <a:pt x="0" y="14751"/>
                  </a:cubicBezTo>
                  <a:lnTo>
                    <a:pt x="0" y="6628"/>
                  </a:lnTo>
                  <a:cubicBezTo>
                    <a:pt x="0" y="5712"/>
                    <a:pt x="549" y="4868"/>
                    <a:pt x="1441" y="4412"/>
                  </a:cubicBezTo>
                  <a:lnTo>
                    <a:pt x="9357" y="342"/>
                  </a:lnTo>
                  <a:close/>
                  <a:moveTo>
                    <a:pt x="18714" y="14747"/>
                  </a:moveTo>
                  <a:lnTo>
                    <a:pt x="18714" y="8101"/>
                  </a:lnTo>
                  <a:lnTo>
                    <a:pt x="12239" y="11422"/>
                  </a:lnTo>
                  <a:lnTo>
                    <a:pt x="12239" y="18069"/>
                  </a:lnTo>
                  <a:lnTo>
                    <a:pt x="18714" y="14747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C4163937-45EC-8B59-5CCE-8CA11E9D825B}"/>
                </a:ext>
              </a:extLst>
            </p:cNvPr>
            <p:cNvSpPr txBox="1"/>
            <p:nvPr/>
          </p:nvSpPr>
          <p:spPr>
            <a:xfrm>
              <a:off x="334725" y="662055"/>
              <a:ext cx="5627690" cy="1651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100" b="1">
                  <a:solidFill>
                    <a:srgbClr val="1E293B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Input Layer</a:t>
              </a:r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6190F153-97FA-EF70-6E34-6DC600AE25AB}"/>
                </a:ext>
              </a:extLst>
            </p:cNvPr>
            <p:cNvSpPr txBox="1"/>
            <p:nvPr/>
          </p:nvSpPr>
          <p:spPr>
            <a:xfrm>
              <a:off x="334726" y="906531"/>
              <a:ext cx="5619750" cy="1524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000">
                  <a:solidFill>
                    <a:srgbClr val="475569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10-day time windows × 8 features</a:t>
              </a:r>
            </a:p>
          </p:txBody>
        </p:sp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BF409701-2CD7-FC52-0A94-D8E9FFEE8EDF}"/>
                </a:ext>
              </a:extLst>
            </p:cNvPr>
            <p:cNvSpPr txBox="1"/>
            <p:nvPr/>
          </p:nvSpPr>
          <p:spPr>
            <a:xfrm>
              <a:off x="334725" y="1125606"/>
              <a:ext cx="5611815" cy="1270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0000"/>
                </a:lnSpc>
                <a:defRPr sz="800">
                  <a:solidFill>
                    <a:srgbClr val="3B82F6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shape: (10, 8)</a:t>
              </a:r>
            </a:p>
          </p:txBody>
        </p:sp>
        <p:sp>
          <p:nvSpPr>
            <p:cNvPr id="21" name="Shape 11">
              <a:extLst>
                <a:ext uri="{FF2B5EF4-FFF2-40B4-BE49-F238E27FC236}">
                  <a16:creationId xmlns:a16="http://schemas.microsoft.com/office/drawing/2014/main" id="{AFBD09B0-AD32-A0B4-89EB-E453D3BD6416}"/>
                </a:ext>
              </a:extLst>
            </p:cNvPr>
            <p:cNvSpPr/>
            <p:nvPr/>
          </p:nvSpPr>
          <p:spPr>
            <a:xfrm>
              <a:off x="2723885" y="1530417"/>
              <a:ext cx="142933" cy="190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4" h="21469" extrusionOk="0">
                  <a:moveTo>
                    <a:pt x="9377" y="21076"/>
                  </a:moveTo>
                  <a:cubicBezTo>
                    <a:pt x="10068" y="21600"/>
                    <a:pt x="11191" y="21600"/>
                    <a:pt x="11883" y="21076"/>
                  </a:cubicBezTo>
                  <a:lnTo>
                    <a:pt x="20735" y="14366"/>
                  </a:lnTo>
                  <a:cubicBezTo>
                    <a:pt x="21427" y="13842"/>
                    <a:pt x="21427" y="12991"/>
                    <a:pt x="20735" y="12467"/>
                  </a:cubicBezTo>
                  <a:cubicBezTo>
                    <a:pt x="20044" y="11943"/>
                    <a:pt x="18921" y="11943"/>
                    <a:pt x="18229" y="12467"/>
                  </a:cubicBezTo>
                  <a:lnTo>
                    <a:pt x="12398" y="16887"/>
                  </a:lnTo>
                  <a:lnTo>
                    <a:pt x="12398" y="1342"/>
                  </a:lnTo>
                  <a:cubicBezTo>
                    <a:pt x="12398" y="600"/>
                    <a:pt x="11606" y="0"/>
                    <a:pt x="10627" y="0"/>
                  </a:cubicBezTo>
                  <a:cubicBezTo>
                    <a:pt x="9648" y="0"/>
                    <a:pt x="8856" y="600"/>
                    <a:pt x="8856" y="1342"/>
                  </a:cubicBezTo>
                  <a:lnTo>
                    <a:pt x="8856" y="16887"/>
                  </a:lnTo>
                  <a:lnTo>
                    <a:pt x="3025" y="12467"/>
                  </a:lnTo>
                  <a:cubicBezTo>
                    <a:pt x="2333" y="11943"/>
                    <a:pt x="1210" y="11943"/>
                    <a:pt x="519" y="12467"/>
                  </a:cubicBezTo>
                  <a:cubicBezTo>
                    <a:pt x="-173" y="12991"/>
                    <a:pt x="-173" y="13842"/>
                    <a:pt x="519" y="14366"/>
                  </a:cubicBezTo>
                  <a:lnTo>
                    <a:pt x="9371" y="21076"/>
                  </a:lnTo>
                  <a:close/>
                </a:path>
              </a:pathLst>
            </a:custGeom>
            <a:solidFill>
              <a:srgbClr val="8B5CF6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22" name="Shape 12">
              <a:extLst>
                <a:ext uri="{FF2B5EF4-FFF2-40B4-BE49-F238E27FC236}">
                  <a16:creationId xmlns:a16="http://schemas.microsoft.com/office/drawing/2014/main" id="{31A93DBB-FA48-4C31-68C0-F8223A49181F}"/>
                </a:ext>
              </a:extLst>
            </p:cNvPr>
            <p:cNvSpPr/>
            <p:nvPr/>
          </p:nvSpPr>
          <p:spPr>
            <a:xfrm>
              <a:off x="-431244" y="1851886"/>
              <a:ext cx="6453189" cy="896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lnTo>
                    <a:pt x="21387" y="0"/>
                  </a:lnTo>
                  <a:cubicBezTo>
                    <a:pt x="21505" y="0"/>
                    <a:pt x="21600" y="685"/>
                    <a:pt x="21600" y="1529"/>
                  </a:cubicBezTo>
                  <a:lnTo>
                    <a:pt x="21600" y="20071"/>
                  </a:lnTo>
                  <a:cubicBezTo>
                    <a:pt x="21600" y="20915"/>
                    <a:pt x="21505" y="21600"/>
                    <a:pt x="21387" y="21600"/>
                  </a:cubicBezTo>
                  <a:lnTo>
                    <a:pt x="213" y="21600"/>
                  </a:lnTo>
                  <a:cubicBezTo>
                    <a:pt x="95" y="21600"/>
                    <a:pt x="0" y="20915"/>
                    <a:pt x="0" y="20071"/>
                  </a:cubicBezTo>
                  <a:lnTo>
                    <a:pt x="0" y="1529"/>
                  </a:lnTo>
                  <a:cubicBezTo>
                    <a:pt x="0" y="685"/>
                    <a:pt x="95" y="0"/>
                    <a:pt x="213" y="0"/>
                  </a:cubicBezTo>
                  <a:close/>
                </a:path>
              </a:pathLst>
            </a:custGeom>
            <a:gradFill>
              <a:gsLst>
                <a:gs pos="0">
                  <a:srgbClr val="22C55E">
                    <a:alpha val="10000"/>
                  </a:srgbClr>
                </a:gs>
                <a:gs pos="100000">
                  <a:srgbClr val="16A34A">
                    <a:alpha val="10000"/>
                  </a:srgbClr>
                </a:gs>
              </a:gsLst>
            </a:gradFill>
            <a:ln w="12700">
              <a:solidFill>
                <a:srgbClr val="22C55E">
                  <a:alpha val="30196"/>
                </a:srgbClr>
              </a:solidFill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B2D2D46B-1628-FF83-40CF-DA557E66FBB3}"/>
                </a:ext>
              </a:extLst>
            </p:cNvPr>
            <p:cNvSpPr/>
            <p:nvPr/>
          </p:nvSpPr>
          <p:spPr>
            <a:xfrm>
              <a:off x="-300274" y="2046356"/>
              <a:ext cx="508001" cy="50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00" y="0"/>
                  </a:moveTo>
                  <a:lnTo>
                    <a:pt x="18900" y="0"/>
                  </a:lnTo>
                  <a:cubicBezTo>
                    <a:pt x="20390" y="0"/>
                    <a:pt x="21600" y="1210"/>
                    <a:pt x="21600" y="2700"/>
                  </a:cubicBezTo>
                  <a:lnTo>
                    <a:pt x="21600" y="18900"/>
                  </a:lnTo>
                  <a:cubicBezTo>
                    <a:pt x="21600" y="20390"/>
                    <a:pt x="20390" y="21600"/>
                    <a:pt x="18900" y="21600"/>
                  </a:cubicBezTo>
                  <a:lnTo>
                    <a:pt x="2700" y="21600"/>
                  </a:lnTo>
                  <a:cubicBezTo>
                    <a:pt x="1210" y="21600"/>
                    <a:pt x="0" y="20390"/>
                    <a:pt x="0" y="18900"/>
                  </a:cubicBezTo>
                  <a:lnTo>
                    <a:pt x="0" y="2700"/>
                  </a:lnTo>
                  <a:cubicBezTo>
                    <a:pt x="0" y="1210"/>
                    <a:pt x="1210" y="0"/>
                    <a:pt x="2700" y="0"/>
                  </a:cubicBezTo>
                  <a:close/>
                </a:path>
              </a:pathLst>
            </a:custGeom>
            <a:solidFill>
              <a:srgbClr val="22C55E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24" name="Shape 14">
              <a:extLst>
                <a:ext uri="{FF2B5EF4-FFF2-40B4-BE49-F238E27FC236}">
                  <a16:creationId xmlns:a16="http://schemas.microsoft.com/office/drawing/2014/main" id="{659A0448-F743-4988-7F2F-AEFCA3B31A1B}"/>
                </a:ext>
              </a:extLst>
            </p:cNvPr>
            <p:cNvSpPr/>
            <p:nvPr/>
          </p:nvSpPr>
          <p:spPr>
            <a:xfrm>
              <a:off x="-141524" y="2228918"/>
              <a:ext cx="190501" cy="142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00" y="0"/>
                  </a:moveTo>
                  <a:cubicBezTo>
                    <a:pt x="1211" y="0"/>
                    <a:pt x="0" y="1614"/>
                    <a:pt x="0" y="3600"/>
                  </a:cubicBezTo>
                  <a:lnTo>
                    <a:pt x="0" y="4016"/>
                  </a:lnTo>
                  <a:cubicBezTo>
                    <a:pt x="0" y="4399"/>
                    <a:pt x="186" y="4725"/>
                    <a:pt x="426" y="4933"/>
                  </a:cubicBezTo>
                  <a:cubicBezTo>
                    <a:pt x="983" y="5417"/>
                    <a:pt x="1350" y="6249"/>
                    <a:pt x="1350" y="7200"/>
                  </a:cubicBezTo>
                  <a:cubicBezTo>
                    <a:pt x="1350" y="8151"/>
                    <a:pt x="983" y="8983"/>
                    <a:pt x="426" y="9467"/>
                  </a:cubicBezTo>
                  <a:cubicBezTo>
                    <a:pt x="186" y="9675"/>
                    <a:pt x="0" y="10001"/>
                    <a:pt x="0" y="10384"/>
                  </a:cubicBezTo>
                  <a:lnTo>
                    <a:pt x="0" y="13500"/>
                  </a:lnTo>
                  <a:lnTo>
                    <a:pt x="21600" y="13500"/>
                  </a:lnTo>
                  <a:lnTo>
                    <a:pt x="21600" y="10384"/>
                  </a:lnTo>
                  <a:cubicBezTo>
                    <a:pt x="21600" y="10001"/>
                    <a:pt x="21414" y="9675"/>
                    <a:pt x="21174" y="9467"/>
                  </a:cubicBezTo>
                  <a:cubicBezTo>
                    <a:pt x="20617" y="8983"/>
                    <a:pt x="20250" y="8151"/>
                    <a:pt x="20250" y="7200"/>
                  </a:cubicBezTo>
                  <a:cubicBezTo>
                    <a:pt x="20250" y="6249"/>
                    <a:pt x="20617" y="5417"/>
                    <a:pt x="21174" y="4933"/>
                  </a:cubicBezTo>
                  <a:cubicBezTo>
                    <a:pt x="21414" y="4725"/>
                    <a:pt x="21600" y="4399"/>
                    <a:pt x="21600" y="4016"/>
                  </a:cubicBezTo>
                  <a:lnTo>
                    <a:pt x="21600" y="3600"/>
                  </a:lnTo>
                  <a:cubicBezTo>
                    <a:pt x="21600" y="1614"/>
                    <a:pt x="20389" y="0"/>
                    <a:pt x="18900" y="0"/>
                  </a:cubicBezTo>
                  <a:lnTo>
                    <a:pt x="2700" y="0"/>
                  </a:lnTo>
                  <a:close/>
                  <a:moveTo>
                    <a:pt x="21600" y="19800"/>
                  </a:moveTo>
                  <a:lnTo>
                    <a:pt x="21600" y="16200"/>
                  </a:lnTo>
                  <a:lnTo>
                    <a:pt x="0" y="16200"/>
                  </a:lnTo>
                  <a:lnTo>
                    <a:pt x="0" y="19800"/>
                  </a:lnTo>
                  <a:cubicBezTo>
                    <a:pt x="0" y="20796"/>
                    <a:pt x="603" y="21600"/>
                    <a:pt x="1350" y="21600"/>
                  </a:cubicBezTo>
                  <a:lnTo>
                    <a:pt x="4050" y="21600"/>
                  </a:lnTo>
                  <a:lnTo>
                    <a:pt x="4050" y="20250"/>
                  </a:lnTo>
                  <a:cubicBezTo>
                    <a:pt x="4050" y="19502"/>
                    <a:pt x="4501" y="18900"/>
                    <a:pt x="5062" y="18900"/>
                  </a:cubicBezTo>
                  <a:cubicBezTo>
                    <a:pt x="5624" y="18900"/>
                    <a:pt x="6075" y="19502"/>
                    <a:pt x="6075" y="20250"/>
                  </a:cubicBezTo>
                  <a:lnTo>
                    <a:pt x="6075" y="21600"/>
                  </a:lnTo>
                  <a:lnTo>
                    <a:pt x="9787" y="21600"/>
                  </a:lnTo>
                  <a:lnTo>
                    <a:pt x="9787" y="20250"/>
                  </a:lnTo>
                  <a:cubicBezTo>
                    <a:pt x="9787" y="19502"/>
                    <a:pt x="10239" y="18900"/>
                    <a:pt x="10800" y="18900"/>
                  </a:cubicBezTo>
                  <a:cubicBezTo>
                    <a:pt x="11361" y="18900"/>
                    <a:pt x="11813" y="19502"/>
                    <a:pt x="11813" y="20250"/>
                  </a:cubicBezTo>
                  <a:lnTo>
                    <a:pt x="11813" y="21600"/>
                  </a:lnTo>
                  <a:lnTo>
                    <a:pt x="15525" y="21600"/>
                  </a:lnTo>
                  <a:lnTo>
                    <a:pt x="15525" y="20250"/>
                  </a:lnTo>
                  <a:cubicBezTo>
                    <a:pt x="15525" y="19502"/>
                    <a:pt x="15976" y="18900"/>
                    <a:pt x="16538" y="18900"/>
                  </a:cubicBezTo>
                  <a:cubicBezTo>
                    <a:pt x="17099" y="18900"/>
                    <a:pt x="17550" y="19502"/>
                    <a:pt x="17550" y="20250"/>
                  </a:cubicBezTo>
                  <a:lnTo>
                    <a:pt x="17550" y="21600"/>
                  </a:lnTo>
                  <a:lnTo>
                    <a:pt x="20250" y="21600"/>
                  </a:lnTo>
                  <a:cubicBezTo>
                    <a:pt x="20997" y="21600"/>
                    <a:pt x="21600" y="20796"/>
                    <a:pt x="21600" y="19800"/>
                  </a:cubicBezTo>
                  <a:close/>
                  <a:moveTo>
                    <a:pt x="6750" y="5400"/>
                  </a:moveTo>
                  <a:lnTo>
                    <a:pt x="6750" y="9000"/>
                  </a:lnTo>
                  <a:cubicBezTo>
                    <a:pt x="6750" y="9996"/>
                    <a:pt x="6147" y="10800"/>
                    <a:pt x="5400" y="10800"/>
                  </a:cubicBezTo>
                  <a:cubicBezTo>
                    <a:pt x="4653" y="10800"/>
                    <a:pt x="4050" y="9996"/>
                    <a:pt x="4050" y="9000"/>
                  </a:cubicBezTo>
                  <a:lnTo>
                    <a:pt x="4050" y="5400"/>
                  </a:lnTo>
                  <a:cubicBezTo>
                    <a:pt x="4050" y="4404"/>
                    <a:pt x="4653" y="3600"/>
                    <a:pt x="5400" y="3600"/>
                  </a:cubicBezTo>
                  <a:cubicBezTo>
                    <a:pt x="6147" y="3600"/>
                    <a:pt x="6750" y="4404"/>
                    <a:pt x="6750" y="5400"/>
                  </a:cubicBezTo>
                  <a:close/>
                  <a:moveTo>
                    <a:pt x="12150" y="5400"/>
                  </a:moveTo>
                  <a:lnTo>
                    <a:pt x="12150" y="9000"/>
                  </a:lnTo>
                  <a:cubicBezTo>
                    <a:pt x="12150" y="9996"/>
                    <a:pt x="11547" y="10800"/>
                    <a:pt x="10800" y="10800"/>
                  </a:cubicBezTo>
                  <a:cubicBezTo>
                    <a:pt x="10053" y="10800"/>
                    <a:pt x="9450" y="9996"/>
                    <a:pt x="9450" y="9000"/>
                  </a:cubicBezTo>
                  <a:lnTo>
                    <a:pt x="9450" y="5400"/>
                  </a:lnTo>
                  <a:cubicBezTo>
                    <a:pt x="9450" y="4404"/>
                    <a:pt x="10053" y="3600"/>
                    <a:pt x="10800" y="3600"/>
                  </a:cubicBezTo>
                  <a:cubicBezTo>
                    <a:pt x="11547" y="3600"/>
                    <a:pt x="12150" y="4404"/>
                    <a:pt x="12150" y="5400"/>
                  </a:cubicBezTo>
                  <a:close/>
                  <a:moveTo>
                    <a:pt x="17550" y="5400"/>
                  </a:moveTo>
                  <a:lnTo>
                    <a:pt x="17550" y="9000"/>
                  </a:lnTo>
                  <a:cubicBezTo>
                    <a:pt x="17550" y="9996"/>
                    <a:pt x="16947" y="10800"/>
                    <a:pt x="16200" y="10800"/>
                  </a:cubicBezTo>
                  <a:cubicBezTo>
                    <a:pt x="15453" y="10800"/>
                    <a:pt x="14850" y="9996"/>
                    <a:pt x="14850" y="9000"/>
                  </a:cubicBezTo>
                  <a:lnTo>
                    <a:pt x="14850" y="5400"/>
                  </a:lnTo>
                  <a:cubicBezTo>
                    <a:pt x="14850" y="4404"/>
                    <a:pt x="15453" y="3600"/>
                    <a:pt x="16200" y="3600"/>
                  </a:cubicBezTo>
                  <a:cubicBezTo>
                    <a:pt x="16947" y="3600"/>
                    <a:pt x="17550" y="4404"/>
                    <a:pt x="17550" y="540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FCEFF3EF-655B-3564-1F90-59F5AB295A6C}"/>
                </a:ext>
              </a:extLst>
            </p:cNvPr>
            <p:cNvSpPr txBox="1"/>
            <p:nvPr/>
          </p:nvSpPr>
          <p:spPr>
            <a:xfrm>
              <a:off x="334725" y="2011431"/>
              <a:ext cx="5627690" cy="1651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100" b="1">
                  <a:solidFill>
                    <a:srgbClr val="1E293B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LSTM Layer 1</a:t>
              </a:r>
            </a:p>
          </p:txBody>
        </p:sp>
        <p:sp>
          <p:nvSpPr>
            <p:cNvPr id="26" name="Text 16">
              <a:extLst>
                <a:ext uri="{FF2B5EF4-FFF2-40B4-BE49-F238E27FC236}">
                  <a16:creationId xmlns:a16="http://schemas.microsoft.com/office/drawing/2014/main" id="{BD828F5B-0533-B05E-9128-39D1099EF50E}"/>
                </a:ext>
              </a:extLst>
            </p:cNvPr>
            <p:cNvSpPr txBox="1"/>
            <p:nvPr/>
          </p:nvSpPr>
          <p:spPr>
            <a:xfrm>
              <a:off x="334726" y="2219718"/>
              <a:ext cx="5619750" cy="22477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000">
                  <a:solidFill>
                    <a:srgbClr val="475569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rPr dirty="0"/>
                <a:t>LSTM(</a:t>
              </a:r>
              <a:r>
                <a:rPr lang="de-DE" dirty="0"/>
                <a:t>6</a:t>
              </a:r>
              <a:r>
                <a:rPr dirty="0"/>
                <a:t>0</a:t>
              </a:r>
              <a:r>
                <a:rPr lang="en-GB" dirty="0"/>
                <a:t>, </a:t>
              </a:r>
              <a:r>
                <a:rPr lang="en-GB" dirty="0" err="1"/>
                <a:t>return_sequences</a:t>
              </a:r>
              <a:r>
                <a:rPr lang="en-GB" dirty="0"/>
                <a:t>=True</a:t>
              </a:r>
              <a:r>
                <a:rPr dirty="0"/>
                <a:t>)</a:t>
              </a:r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A4A486A3-7B79-161C-EC4D-3A3868D0596C}"/>
                </a:ext>
              </a:extLst>
            </p:cNvPr>
            <p:cNvSpPr txBox="1"/>
            <p:nvPr/>
          </p:nvSpPr>
          <p:spPr>
            <a:xfrm>
              <a:off x="334725" y="2454188"/>
              <a:ext cx="5611816" cy="16858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0000"/>
                </a:lnSpc>
                <a:defRPr sz="800">
                  <a:solidFill>
                    <a:srgbClr val="22C55E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rPr lang="de-DE" dirty="0"/>
                <a:t>6</a:t>
              </a:r>
              <a:r>
                <a:rPr dirty="0"/>
                <a:t>0 units, preserves time dim</a:t>
              </a:r>
            </a:p>
          </p:txBody>
        </p:sp>
        <p:sp>
          <p:nvSpPr>
            <p:cNvPr id="28" name="Shape 18">
              <a:extLst>
                <a:ext uri="{FF2B5EF4-FFF2-40B4-BE49-F238E27FC236}">
                  <a16:creationId xmlns:a16="http://schemas.microsoft.com/office/drawing/2014/main" id="{159A207D-1706-2358-EC7B-3E90EFB6FA74}"/>
                </a:ext>
              </a:extLst>
            </p:cNvPr>
            <p:cNvSpPr/>
            <p:nvPr/>
          </p:nvSpPr>
          <p:spPr>
            <a:xfrm>
              <a:off x="2723885" y="2879792"/>
              <a:ext cx="142933" cy="190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4" h="21469" extrusionOk="0">
                  <a:moveTo>
                    <a:pt x="9377" y="21076"/>
                  </a:moveTo>
                  <a:cubicBezTo>
                    <a:pt x="10068" y="21600"/>
                    <a:pt x="11191" y="21600"/>
                    <a:pt x="11883" y="21076"/>
                  </a:cubicBezTo>
                  <a:lnTo>
                    <a:pt x="20735" y="14366"/>
                  </a:lnTo>
                  <a:cubicBezTo>
                    <a:pt x="21427" y="13842"/>
                    <a:pt x="21427" y="12991"/>
                    <a:pt x="20735" y="12467"/>
                  </a:cubicBezTo>
                  <a:cubicBezTo>
                    <a:pt x="20044" y="11943"/>
                    <a:pt x="18921" y="11943"/>
                    <a:pt x="18229" y="12467"/>
                  </a:cubicBezTo>
                  <a:lnTo>
                    <a:pt x="12398" y="16887"/>
                  </a:lnTo>
                  <a:lnTo>
                    <a:pt x="12398" y="1342"/>
                  </a:lnTo>
                  <a:cubicBezTo>
                    <a:pt x="12398" y="600"/>
                    <a:pt x="11606" y="0"/>
                    <a:pt x="10627" y="0"/>
                  </a:cubicBezTo>
                  <a:cubicBezTo>
                    <a:pt x="9648" y="0"/>
                    <a:pt x="8856" y="600"/>
                    <a:pt x="8856" y="1342"/>
                  </a:cubicBezTo>
                  <a:lnTo>
                    <a:pt x="8856" y="16887"/>
                  </a:lnTo>
                  <a:lnTo>
                    <a:pt x="3025" y="12467"/>
                  </a:lnTo>
                  <a:cubicBezTo>
                    <a:pt x="2333" y="11943"/>
                    <a:pt x="1210" y="11943"/>
                    <a:pt x="519" y="12467"/>
                  </a:cubicBezTo>
                  <a:cubicBezTo>
                    <a:pt x="-173" y="12991"/>
                    <a:pt x="-173" y="13842"/>
                    <a:pt x="519" y="14366"/>
                  </a:cubicBezTo>
                  <a:lnTo>
                    <a:pt x="9371" y="21076"/>
                  </a:lnTo>
                  <a:close/>
                </a:path>
              </a:pathLst>
            </a:custGeom>
            <a:solidFill>
              <a:srgbClr val="8B5CF6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29" name="Shape 19">
              <a:extLst>
                <a:ext uri="{FF2B5EF4-FFF2-40B4-BE49-F238E27FC236}">
                  <a16:creationId xmlns:a16="http://schemas.microsoft.com/office/drawing/2014/main" id="{E34564E3-3373-084D-4E07-D5091ABCD44D}"/>
                </a:ext>
              </a:extLst>
            </p:cNvPr>
            <p:cNvSpPr/>
            <p:nvPr/>
          </p:nvSpPr>
          <p:spPr>
            <a:xfrm>
              <a:off x="-431244" y="3201262"/>
              <a:ext cx="6453189" cy="896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lnTo>
                    <a:pt x="21387" y="0"/>
                  </a:lnTo>
                  <a:cubicBezTo>
                    <a:pt x="21505" y="0"/>
                    <a:pt x="21600" y="685"/>
                    <a:pt x="21600" y="1529"/>
                  </a:cubicBezTo>
                  <a:lnTo>
                    <a:pt x="21600" y="20071"/>
                  </a:lnTo>
                  <a:cubicBezTo>
                    <a:pt x="21600" y="20915"/>
                    <a:pt x="21505" y="21600"/>
                    <a:pt x="21387" y="21600"/>
                  </a:cubicBezTo>
                  <a:lnTo>
                    <a:pt x="213" y="21600"/>
                  </a:lnTo>
                  <a:cubicBezTo>
                    <a:pt x="95" y="21600"/>
                    <a:pt x="0" y="20915"/>
                    <a:pt x="0" y="20071"/>
                  </a:cubicBezTo>
                  <a:lnTo>
                    <a:pt x="0" y="1529"/>
                  </a:lnTo>
                  <a:cubicBezTo>
                    <a:pt x="0" y="685"/>
                    <a:pt x="95" y="0"/>
                    <a:pt x="213" y="0"/>
                  </a:cubicBezTo>
                  <a:close/>
                </a:path>
              </a:pathLst>
            </a:custGeom>
            <a:gradFill>
              <a:gsLst>
                <a:gs pos="0">
                  <a:srgbClr val="F59E0B">
                    <a:alpha val="10000"/>
                  </a:srgbClr>
                </a:gs>
                <a:gs pos="100000">
                  <a:srgbClr val="D97706">
                    <a:alpha val="10000"/>
                  </a:srgbClr>
                </a:gs>
              </a:gsLst>
            </a:gradFill>
            <a:ln w="12700">
              <a:solidFill>
                <a:srgbClr val="F59E0B">
                  <a:alpha val="30196"/>
                </a:srgbClr>
              </a:solidFill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0" name="Shape 20">
              <a:extLst>
                <a:ext uri="{FF2B5EF4-FFF2-40B4-BE49-F238E27FC236}">
                  <a16:creationId xmlns:a16="http://schemas.microsoft.com/office/drawing/2014/main" id="{8D74953A-AA92-99E1-9B1A-A428558D4F28}"/>
                </a:ext>
              </a:extLst>
            </p:cNvPr>
            <p:cNvSpPr/>
            <p:nvPr/>
          </p:nvSpPr>
          <p:spPr>
            <a:xfrm>
              <a:off x="-300274" y="3395730"/>
              <a:ext cx="508001" cy="50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00" y="0"/>
                  </a:moveTo>
                  <a:lnTo>
                    <a:pt x="18900" y="0"/>
                  </a:lnTo>
                  <a:cubicBezTo>
                    <a:pt x="20390" y="0"/>
                    <a:pt x="21600" y="1210"/>
                    <a:pt x="21600" y="2700"/>
                  </a:cubicBezTo>
                  <a:lnTo>
                    <a:pt x="21600" y="18900"/>
                  </a:lnTo>
                  <a:cubicBezTo>
                    <a:pt x="21600" y="20390"/>
                    <a:pt x="20390" y="21600"/>
                    <a:pt x="18900" y="21600"/>
                  </a:cubicBezTo>
                  <a:lnTo>
                    <a:pt x="2700" y="21600"/>
                  </a:lnTo>
                  <a:cubicBezTo>
                    <a:pt x="1210" y="21600"/>
                    <a:pt x="0" y="20390"/>
                    <a:pt x="0" y="18900"/>
                  </a:cubicBezTo>
                  <a:lnTo>
                    <a:pt x="0" y="2700"/>
                  </a:lnTo>
                  <a:cubicBezTo>
                    <a:pt x="0" y="1210"/>
                    <a:pt x="1210" y="0"/>
                    <a:pt x="2700" y="0"/>
                  </a:cubicBezTo>
                  <a:close/>
                </a:path>
              </a:pathLst>
            </a:custGeom>
            <a:solidFill>
              <a:srgbClr val="F59E0B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1" name="Shape 21">
              <a:extLst>
                <a:ext uri="{FF2B5EF4-FFF2-40B4-BE49-F238E27FC236}">
                  <a16:creationId xmlns:a16="http://schemas.microsoft.com/office/drawing/2014/main" id="{BB02304B-A4E1-87EF-4EB1-EAFD6A8F6198}"/>
                </a:ext>
              </a:extLst>
            </p:cNvPr>
            <p:cNvSpPr/>
            <p:nvPr/>
          </p:nvSpPr>
          <p:spPr>
            <a:xfrm>
              <a:off x="-141524" y="3578292"/>
              <a:ext cx="190501" cy="1428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00" y="0"/>
                  </a:moveTo>
                  <a:cubicBezTo>
                    <a:pt x="1211" y="0"/>
                    <a:pt x="0" y="1614"/>
                    <a:pt x="0" y="3600"/>
                  </a:cubicBezTo>
                  <a:lnTo>
                    <a:pt x="0" y="4016"/>
                  </a:lnTo>
                  <a:cubicBezTo>
                    <a:pt x="0" y="4399"/>
                    <a:pt x="186" y="4725"/>
                    <a:pt x="426" y="4933"/>
                  </a:cubicBezTo>
                  <a:cubicBezTo>
                    <a:pt x="983" y="5417"/>
                    <a:pt x="1350" y="6249"/>
                    <a:pt x="1350" y="7200"/>
                  </a:cubicBezTo>
                  <a:cubicBezTo>
                    <a:pt x="1350" y="8151"/>
                    <a:pt x="983" y="8983"/>
                    <a:pt x="426" y="9467"/>
                  </a:cubicBezTo>
                  <a:cubicBezTo>
                    <a:pt x="186" y="9675"/>
                    <a:pt x="0" y="10001"/>
                    <a:pt x="0" y="10384"/>
                  </a:cubicBezTo>
                  <a:lnTo>
                    <a:pt x="0" y="13500"/>
                  </a:lnTo>
                  <a:lnTo>
                    <a:pt x="21600" y="13500"/>
                  </a:lnTo>
                  <a:lnTo>
                    <a:pt x="21600" y="10384"/>
                  </a:lnTo>
                  <a:cubicBezTo>
                    <a:pt x="21600" y="10001"/>
                    <a:pt x="21414" y="9675"/>
                    <a:pt x="21174" y="9467"/>
                  </a:cubicBezTo>
                  <a:cubicBezTo>
                    <a:pt x="20617" y="8983"/>
                    <a:pt x="20250" y="8151"/>
                    <a:pt x="20250" y="7200"/>
                  </a:cubicBezTo>
                  <a:cubicBezTo>
                    <a:pt x="20250" y="6249"/>
                    <a:pt x="20617" y="5417"/>
                    <a:pt x="21174" y="4933"/>
                  </a:cubicBezTo>
                  <a:cubicBezTo>
                    <a:pt x="21414" y="4725"/>
                    <a:pt x="21600" y="4399"/>
                    <a:pt x="21600" y="4016"/>
                  </a:cubicBezTo>
                  <a:lnTo>
                    <a:pt x="21600" y="3600"/>
                  </a:lnTo>
                  <a:cubicBezTo>
                    <a:pt x="21600" y="1614"/>
                    <a:pt x="20389" y="0"/>
                    <a:pt x="18900" y="0"/>
                  </a:cubicBezTo>
                  <a:lnTo>
                    <a:pt x="2700" y="0"/>
                  </a:lnTo>
                  <a:close/>
                  <a:moveTo>
                    <a:pt x="21600" y="19800"/>
                  </a:moveTo>
                  <a:lnTo>
                    <a:pt x="21600" y="16200"/>
                  </a:lnTo>
                  <a:lnTo>
                    <a:pt x="0" y="16200"/>
                  </a:lnTo>
                  <a:lnTo>
                    <a:pt x="0" y="19800"/>
                  </a:lnTo>
                  <a:cubicBezTo>
                    <a:pt x="0" y="20796"/>
                    <a:pt x="603" y="21600"/>
                    <a:pt x="1350" y="21600"/>
                  </a:cubicBezTo>
                  <a:lnTo>
                    <a:pt x="4050" y="21600"/>
                  </a:lnTo>
                  <a:lnTo>
                    <a:pt x="4050" y="20250"/>
                  </a:lnTo>
                  <a:cubicBezTo>
                    <a:pt x="4050" y="19502"/>
                    <a:pt x="4501" y="18900"/>
                    <a:pt x="5062" y="18900"/>
                  </a:cubicBezTo>
                  <a:cubicBezTo>
                    <a:pt x="5624" y="18900"/>
                    <a:pt x="6075" y="19502"/>
                    <a:pt x="6075" y="20250"/>
                  </a:cubicBezTo>
                  <a:lnTo>
                    <a:pt x="6075" y="21600"/>
                  </a:lnTo>
                  <a:lnTo>
                    <a:pt x="9787" y="21600"/>
                  </a:lnTo>
                  <a:lnTo>
                    <a:pt x="9787" y="20250"/>
                  </a:lnTo>
                  <a:cubicBezTo>
                    <a:pt x="9787" y="19502"/>
                    <a:pt x="10239" y="18900"/>
                    <a:pt x="10800" y="18900"/>
                  </a:cubicBezTo>
                  <a:cubicBezTo>
                    <a:pt x="11361" y="18900"/>
                    <a:pt x="11813" y="19502"/>
                    <a:pt x="11813" y="20250"/>
                  </a:cubicBezTo>
                  <a:lnTo>
                    <a:pt x="11813" y="21600"/>
                  </a:lnTo>
                  <a:lnTo>
                    <a:pt x="15525" y="21600"/>
                  </a:lnTo>
                  <a:lnTo>
                    <a:pt x="15525" y="20250"/>
                  </a:lnTo>
                  <a:cubicBezTo>
                    <a:pt x="15525" y="19502"/>
                    <a:pt x="15976" y="18900"/>
                    <a:pt x="16538" y="18900"/>
                  </a:cubicBezTo>
                  <a:cubicBezTo>
                    <a:pt x="17099" y="18900"/>
                    <a:pt x="17550" y="19502"/>
                    <a:pt x="17550" y="20250"/>
                  </a:cubicBezTo>
                  <a:lnTo>
                    <a:pt x="17550" y="21600"/>
                  </a:lnTo>
                  <a:lnTo>
                    <a:pt x="20250" y="21600"/>
                  </a:lnTo>
                  <a:cubicBezTo>
                    <a:pt x="20997" y="21600"/>
                    <a:pt x="21600" y="20796"/>
                    <a:pt x="21600" y="19800"/>
                  </a:cubicBezTo>
                  <a:close/>
                  <a:moveTo>
                    <a:pt x="6750" y="5400"/>
                  </a:moveTo>
                  <a:lnTo>
                    <a:pt x="6750" y="9000"/>
                  </a:lnTo>
                  <a:cubicBezTo>
                    <a:pt x="6750" y="9996"/>
                    <a:pt x="6147" y="10800"/>
                    <a:pt x="5400" y="10800"/>
                  </a:cubicBezTo>
                  <a:cubicBezTo>
                    <a:pt x="4653" y="10800"/>
                    <a:pt x="4050" y="9996"/>
                    <a:pt x="4050" y="9000"/>
                  </a:cubicBezTo>
                  <a:lnTo>
                    <a:pt x="4050" y="5400"/>
                  </a:lnTo>
                  <a:cubicBezTo>
                    <a:pt x="4050" y="4404"/>
                    <a:pt x="4653" y="3600"/>
                    <a:pt x="5400" y="3600"/>
                  </a:cubicBezTo>
                  <a:cubicBezTo>
                    <a:pt x="6147" y="3600"/>
                    <a:pt x="6750" y="4404"/>
                    <a:pt x="6750" y="5400"/>
                  </a:cubicBezTo>
                  <a:close/>
                  <a:moveTo>
                    <a:pt x="12150" y="5400"/>
                  </a:moveTo>
                  <a:lnTo>
                    <a:pt x="12150" y="9000"/>
                  </a:lnTo>
                  <a:cubicBezTo>
                    <a:pt x="12150" y="9996"/>
                    <a:pt x="11547" y="10800"/>
                    <a:pt x="10800" y="10800"/>
                  </a:cubicBezTo>
                  <a:cubicBezTo>
                    <a:pt x="10053" y="10800"/>
                    <a:pt x="9450" y="9996"/>
                    <a:pt x="9450" y="9000"/>
                  </a:cubicBezTo>
                  <a:lnTo>
                    <a:pt x="9450" y="5400"/>
                  </a:lnTo>
                  <a:cubicBezTo>
                    <a:pt x="9450" y="4404"/>
                    <a:pt x="10053" y="3600"/>
                    <a:pt x="10800" y="3600"/>
                  </a:cubicBezTo>
                  <a:cubicBezTo>
                    <a:pt x="11547" y="3600"/>
                    <a:pt x="12150" y="4404"/>
                    <a:pt x="12150" y="5400"/>
                  </a:cubicBezTo>
                  <a:close/>
                  <a:moveTo>
                    <a:pt x="17550" y="5400"/>
                  </a:moveTo>
                  <a:lnTo>
                    <a:pt x="17550" y="9000"/>
                  </a:lnTo>
                  <a:cubicBezTo>
                    <a:pt x="17550" y="9996"/>
                    <a:pt x="16947" y="10800"/>
                    <a:pt x="16200" y="10800"/>
                  </a:cubicBezTo>
                  <a:cubicBezTo>
                    <a:pt x="15453" y="10800"/>
                    <a:pt x="14850" y="9996"/>
                    <a:pt x="14850" y="9000"/>
                  </a:cubicBezTo>
                  <a:lnTo>
                    <a:pt x="14850" y="5400"/>
                  </a:lnTo>
                  <a:cubicBezTo>
                    <a:pt x="14850" y="4404"/>
                    <a:pt x="15453" y="3600"/>
                    <a:pt x="16200" y="3600"/>
                  </a:cubicBezTo>
                  <a:cubicBezTo>
                    <a:pt x="16947" y="3600"/>
                    <a:pt x="17550" y="4404"/>
                    <a:pt x="17550" y="540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2" name="Text 22">
              <a:extLst>
                <a:ext uri="{FF2B5EF4-FFF2-40B4-BE49-F238E27FC236}">
                  <a16:creationId xmlns:a16="http://schemas.microsoft.com/office/drawing/2014/main" id="{B0440ECE-3BD2-FFA4-ABDC-C2C6799B1F31}"/>
                </a:ext>
              </a:extLst>
            </p:cNvPr>
            <p:cNvSpPr txBox="1"/>
            <p:nvPr/>
          </p:nvSpPr>
          <p:spPr>
            <a:xfrm>
              <a:off x="334725" y="3360805"/>
              <a:ext cx="5627690" cy="1651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100" b="1">
                  <a:solidFill>
                    <a:srgbClr val="1E293B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LSTM Layer 2</a:t>
              </a:r>
            </a:p>
          </p:txBody>
        </p:sp>
        <p:sp>
          <p:nvSpPr>
            <p:cNvPr id="33" name="Text 23">
              <a:extLst>
                <a:ext uri="{FF2B5EF4-FFF2-40B4-BE49-F238E27FC236}">
                  <a16:creationId xmlns:a16="http://schemas.microsoft.com/office/drawing/2014/main" id="{D652E9EA-E0AA-48CC-2594-C09E8C8E8633}"/>
                </a:ext>
              </a:extLst>
            </p:cNvPr>
            <p:cNvSpPr txBox="1"/>
            <p:nvPr/>
          </p:nvSpPr>
          <p:spPr>
            <a:xfrm>
              <a:off x="334726" y="3569092"/>
              <a:ext cx="5619750" cy="22477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000">
                  <a:solidFill>
                    <a:srgbClr val="475569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rPr dirty="0"/>
                <a:t>LSTM(</a:t>
              </a:r>
              <a:r>
                <a:rPr lang="de-DE" dirty="0"/>
                <a:t>6</a:t>
              </a:r>
              <a:r>
                <a:rPr dirty="0"/>
                <a:t>0)</a:t>
              </a:r>
            </a:p>
          </p:txBody>
        </p:sp>
        <p:sp>
          <p:nvSpPr>
            <p:cNvPr id="34" name="Text 24">
              <a:extLst>
                <a:ext uri="{FF2B5EF4-FFF2-40B4-BE49-F238E27FC236}">
                  <a16:creationId xmlns:a16="http://schemas.microsoft.com/office/drawing/2014/main" id="{39CEE044-D6A2-AEB3-8703-E21A4A5D389A}"/>
                </a:ext>
              </a:extLst>
            </p:cNvPr>
            <p:cNvSpPr txBox="1"/>
            <p:nvPr/>
          </p:nvSpPr>
          <p:spPr>
            <a:xfrm>
              <a:off x="334725" y="3803564"/>
              <a:ext cx="5611816" cy="16858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0000"/>
                </a:lnSpc>
                <a:defRPr sz="800">
                  <a:solidFill>
                    <a:srgbClr val="F59E0B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rPr lang="de-DE" dirty="0"/>
                <a:t>6</a:t>
              </a:r>
              <a:r>
                <a:rPr dirty="0"/>
                <a:t>0 units, final sequence</a:t>
              </a:r>
            </a:p>
          </p:txBody>
        </p:sp>
        <p:sp>
          <p:nvSpPr>
            <p:cNvPr id="35" name="Shape 25">
              <a:extLst>
                <a:ext uri="{FF2B5EF4-FFF2-40B4-BE49-F238E27FC236}">
                  <a16:creationId xmlns:a16="http://schemas.microsoft.com/office/drawing/2014/main" id="{583685F0-ED6F-251E-554E-037545F8A909}"/>
                </a:ext>
              </a:extLst>
            </p:cNvPr>
            <p:cNvSpPr/>
            <p:nvPr/>
          </p:nvSpPr>
          <p:spPr>
            <a:xfrm>
              <a:off x="2723885" y="4229167"/>
              <a:ext cx="142933" cy="190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4" h="21469" extrusionOk="0">
                  <a:moveTo>
                    <a:pt x="9377" y="21076"/>
                  </a:moveTo>
                  <a:cubicBezTo>
                    <a:pt x="10068" y="21600"/>
                    <a:pt x="11191" y="21600"/>
                    <a:pt x="11883" y="21076"/>
                  </a:cubicBezTo>
                  <a:lnTo>
                    <a:pt x="20735" y="14366"/>
                  </a:lnTo>
                  <a:cubicBezTo>
                    <a:pt x="21427" y="13842"/>
                    <a:pt x="21427" y="12991"/>
                    <a:pt x="20735" y="12467"/>
                  </a:cubicBezTo>
                  <a:cubicBezTo>
                    <a:pt x="20044" y="11943"/>
                    <a:pt x="18921" y="11943"/>
                    <a:pt x="18229" y="12467"/>
                  </a:cubicBezTo>
                  <a:lnTo>
                    <a:pt x="12398" y="16887"/>
                  </a:lnTo>
                  <a:lnTo>
                    <a:pt x="12398" y="1342"/>
                  </a:lnTo>
                  <a:cubicBezTo>
                    <a:pt x="12398" y="600"/>
                    <a:pt x="11606" y="0"/>
                    <a:pt x="10627" y="0"/>
                  </a:cubicBezTo>
                  <a:cubicBezTo>
                    <a:pt x="9648" y="0"/>
                    <a:pt x="8856" y="600"/>
                    <a:pt x="8856" y="1342"/>
                  </a:cubicBezTo>
                  <a:lnTo>
                    <a:pt x="8856" y="16887"/>
                  </a:lnTo>
                  <a:lnTo>
                    <a:pt x="3025" y="12467"/>
                  </a:lnTo>
                  <a:cubicBezTo>
                    <a:pt x="2333" y="11943"/>
                    <a:pt x="1210" y="11943"/>
                    <a:pt x="519" y="12467"/>
                  </a:cubicBezTo>
                  <a:cubicBezTo>
                    <a:pt x="-173" y="12991"/>
                    <a:pt x="-173" y="13842"/>
                    <a:pt x="519" y="14366"/>
                  </a:cubicBezTo>
                  <a:lnTo>
                    <a:pt x="9371" y="21076"/>
                  </a:lnTo>
                  <a:close/>
                </a:path>
              </a:pathLst>
            </a:custGeom>
            <a:solidFill>
              <a:srgbClr val="8B5CF6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6" name="Shape 26">
              <a:extLst>
                <a:ext uri="{FF2B5EF4-FFF2-40B4-BE49-F238E27FC236}">
                  <a16:creationId xmlns:a16="http://schemas.microsoft.com/office/drawing/2014/main" id="{6FC2B985-272B-1004-8825-60C06177F8B5}"/>
                </a:ext>
              </a:extLst>
            </p:cNvPr>
            <p:cNvSpPr/>
            <p:nvPr/>
          </p:nvSpPr>
          <p:spPr>
            <a:xfrm>
              <a:off x="-431244" y="4550637"/>
              <a:ext cx="6453189" cy="896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" y="0"/>
                  </a:moveTo>
                  <a:lnTo>
                    <a:pt x="21387" y="0"/>
                  </a:lnTo>
                  <a:cubicBezTo>
                    <a:pt x="21505" y="0"/>
                    <a:pt x="21600" y="685"/>
                    <a:pt x="21600" y="1529"/>
                  </a:cubicBezTo>
                  <a:lnTo>
                    <a:pt x="21600" y="20071"/>
                  </a:lnTo>
                  <a:cubicBezTo>
                    <a:pt x="21600" y="20915"/>
                    <a:pt x="21505" y="21600"/>
                    <a:pt x="21387" y="21600"/>
                  </a:cubicBezTo>
                  <a:lnTo>
                    <a:pt x="213" y="21600"/>
                  </a:lnTo>
                  <a:cubicBezTo>
                    <a:pt x="95" y="21600"/>
                    <a:pt x="0" y="20915"/>
                    <a:pt x="0" y="20071"/>
                  </a:cubicBezTo>
                  <a:lnTo>
                    <a:pt x="0" y="1529"/>
                  </a:lnTo>
                  <a:cubicBezTo>
                    <a:pt x="0" y="685"/>
                    <a:pt x="95" y="0"/>
                    <a:pt x="213" y="0"/>
                  </a:cubicBezTo>
                  <a:close/>
                </a:path>
              </a:pathLst>
            </a:custGeom>
            <a:gradFill>
              <a:gsLst>
                <a:gs pos="0">
                  <a:srgbClr val="EC4899">
                    <a:alpha val="10000"/>
                  </a:srgbClr>
                </a:gs>
                <a:gs pos="100000">
                  <a:srgbClr val="BE185D">
                    <a:alpha val="10000"/>
                  </a:srgbClr>
                </a:gs>
              </a:gsLst>
            </a:gradFill>
            <a:ln w="12700">
              <a:solidFill>
                <a:srgbClr val="EC4899">
                  <a:alpha val="30196"/>
                </a:srgbClr>
              </a:solidFill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7" name="Shape 27">
              <a:extLst>
                <a:ext uri="{FF2B5EF4-FFF2-40B4-BE49-F238E27FC236}">
                  <a16:creationId xmlns:a16="http://schemas.microsoft.com/office/drawing/2014/main" id="{6DCF7021-A5AE-E44F-9A32-7D66B4A99F1A}"/>
                </a:ext>
              </a:extLst>
            </p:cNvPr>
            <p:cNvSpPr/>
            <p:nvPr/>
          </p:nvSpPr>
          <p:spPr>
            <a:xfrm>
              <a:off x="-300274" y="4745105"/>
              <a:ext cx="508001" cy="50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700" y="0"/>
                  </a:moveTo>
                  <a:lnTo>
                    <a:pt x="18900" y="0"/>
                  </a:lnTo>
                  <a:cubicBezTo>
                    <a:pt x="20390" y="0"/>
                    <a:pt x="21600" y="1210"/>
                    <a:pt x="21600" y="2700"/>
                  </a:cubicBezTo>
                  <a:lnTo>
                    <a:pt x="21600" y="18900"/>
                  </a:lnTo>
                  <a:cubicBezTo>
                    <a:pt x="21600" y="20390"/>
                    <a:pt x="20390" y="21600"/>
                    <a:pt x="18900" y="21600"/>
                  </a:cubicBezTo>
                  <a:lnTo>
                    <a:pt x="2700" y="21600"/>
                  </a:lnTo>
                  <a:cubicBezTo>
                    <a:pt x="1210" y="21600"/>
                    <a:pt x="0" y="20390"/>
                    <a:pt x="0" y="18900"/>
                  </a:cubicBezTo>
                  <a:lnTo>
                    <a:pt x="0" y="2700"/>
                  </a:lnTo>
                  <a:cubicBezTo>
                    <a:pt x="0" y="1210"/>
                    <a:pt x="1210" y="0"/>
                    <a:pt x="2700" y="0"/>
                  </a:cubicBezTo>
                  <a:close/>
                </a:path>
              </a:pathLst>
            </a:custGeom>
            <a:solidFill>
              <a:srgbClr val="EC4899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8" name="Shape 28">
              <a:extLst>
                <a:ext uri="{FF2B5EF4-FFF2-40B4-BE49-F238E27FC236}">
                  <a16:creationId xmlns:a16="http://schemas.microsoft.com/office/drawing/2014/main" id="{AA3EDB22-9208-DBC4-DDEF-16801580BACC}"/>
                </a:ext>
              </a:extLst>
            </p:cNvPr>
            <p:cNvSpPr/>
            <p:nvPr/>
          </p:nvSpPr>
          <p:spPr>
            <a:xfrm>
              <a:off x="-141524" y="4903855"/>
              <a:ext cx="190500" cy="190501"/>
            </a:xfrm>
            <a:prstGeom prst="ellipse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9" name="Text 29">
              <a:extLst>
                <a:ext uri="{FF2B5EF4-FFF2-40B4-BE49-F238E27FC236}">
                  <a16:creationId xmlns:a16="http://schemas.microsoft.com/office/drawing/2014/main" id="{FB8DD14F-FB79-53BD-6511-ACDADE728D10}"/>
                </a:ext>
              </a:extLst>
            </p:cNvPr>
            <p:cNvSpPr txBox="1"/>
            <p:nvPr/>
          </p:nvSpPr>
          <p:spPr>
            <a:xfrm>
              <a:off x="334725" y="4710180"/>
              <a:ext cx="5627690" cy="1651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100" b="1">
                  <a:solidFill>
                    <a:srgbClr val="1E293B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Output Layer</a:t>
              </a:r>
            </a:p>
          </p:txBody>
        </p:sp>
        <p:sp>
          <p:nvSpPr>
            <p:cNvPr id="40" name="Text 30">
              <a:extLst>
                <a:ext uri="{FF2B5EF4-FFF2-40B4-BE49-F238E27FC236}">
                  <a16:creationId xmlns:a16="http://schemas.microsoft.com/office/drawing/2014/main" id="{E0A71B5F-862D-855C-4411-6329931CE624}"/>
                </a:ext>
              </a:extLst>
            </p:cNvPr>
            <p:cNvSpPr txBox="1"/>
            <p:nvPr/>
          </p:nvSpPr>
          <p:spPr>
            <a:xfrm>
              <a:off x="334726" y="4954655"/>
              <a:ext cx="5619750" cy="1524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000">
                  <a:solidFill>
                    <a:srgbClr val="475569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Dense(1)</a:t>
              </a:r>
            </a:p>
          </p:txBody>
        </p:sp>
        <p:sp>
          <p:nvSpPr>
            <p:cNvPr id="41" name="Text 31">
              <a:extLst>
                <a:ext uri="{FF2B5EF4-FFF2-40B4-BE49-F238E27FC236}">
                  <a16:creationId xmlns:a16="http://schemas.microsoft.com/office/drawing/2014/main" id="{CF0F3860-44EC-271B-3CA3-DF3733287D87}"/>
                </a:ext>
              </a:extLst>
            </p:cNvPr>
            <p:cNvSpPr txBox="1"/>
            <p:nvPr/>
          </p:nvSpPr>
          <p:spPr>
            <a:xfrm>
              <a:off x="334725" y="5173730"/>
              <a:ext cx="5611815" cy="1270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0000"/>
                </a:lnSpc>
                <a:defRPr sz="800">
                  <a:solidFill>
                    <a:srgbClr val="EC4899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single regression output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E6DB957-9153-4AB0-0598-F5EF46EDCA4D}"/>
              </a:ext>
            </a:extLst>
          </p:cNvPr>
          <p:cNvGrpSpPr/>
          <p:nvPr/>
        </p:nvGrpSpPr>
        <p:grpSpPr>
          <a:xfrm>
            <a:off x="6768662" y="1648877"/>
            <a:ext cx="4474289" cy="2792435"/>
            <a:chOff x="7366000" y="888999"/>
            <a:chExt cx="4508501" cy="3198815"/>
          </a:xfrm>
        </p:grpSpPr>
        <p:sp>
          <p:nvSpPr>
            <p:cNvPr id="43" name="Shape 32">
              <a:extLst>
                <a:ext uri="{FF2B5EF4-FFF2-40B4-BE49-F238E27FC236}">
                  <a16:creationId xmlns:a16="http://schemas.microsoft.com/office/drawing/2014/main" id="{C2B78175-1D95-E9A7-D8BE-E283B0F17B89}"/>
                </a:ext>
              </a:extLst>
            </p:cNvPr>
            <p:cNvSpPr/>
            <p:nvPr/>
          </p:nvSpPr>
          <p:spPr>
            <a:xfrm>
              <a:off x="7366000" y="888999"/>
              <a:ext cx="4508501" cy="31988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6" y="0"/>
                  </a:moveTo>
                  <a:lnTo>
                    <a:pt x="21144" y="0"/>
                  </a:lnTo>
                  <a:cubicBezTo>
                    <a:pt x="21396" y="0"/>
                    <a:pt x="21600" y="288"/>
                    <a:pt x="21600" y="643"/>
                  </a:cubicBezTo>
                  <a:lnTo>
                    <a:pt x="21600" y="20957"/>
                  </a:lnTo>
                  <a:cubicBezTo>
                    <a:pt x="21600" y="21312"/>
                    <a:pt x="21396" y="21600"/>
                    <a:pt x="21144" y="21600"/>
                  </a:cubicBezTo>
                  <a:lnTo>
                    <a:pt x="456" y="21600"/>
                  </a:lnTo>
                  <a:cubicBezTo>
                    <a:pt x="204" y="21600"/>
                    <a:pt x="0" y="21312"/>
                    <a:pt x="0" y="20957"/>
                  </a:cubicBezTo>
                  <a:lnTo>
                    <a:pt x="0" y="643"/>
                  </a:lnTo>
                  <a:cubicBezTo>
                    <a:pt x="0" y="288"/>
                    <a:pt x="205" y="0"/>
                    <a:pt x="456" y="0"/>
                  </a:cubicBezTo>
                  <a:close/>
                </a:path>
              </a:pathLst>
            </a:custGeom>
            <a:gradFill>
              <a:gsLst>
                <a:gs pos="0">
                  <a:srgbClr val="1E293B"/>
                </a:gs>
                <a:gs pos="100000">
                  <a:srgbClr val="334155"/>
                </a:gs>
              </a:gsLst>
              <a:lin ang="2700000"/>
            </a:gra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44" name="Shape 33">
              <a:extLst>
                <a:ext uri="{FF2B5EF4-FFF2-40B4-BE49-F238E27FC236}">
                  <a16:creationId xmlns:a16="http://schemas.microsoft.com/office/drawing/2014/main" id="{ADBD08C2-0DDC-EEA2-9809-598B887DB026}"/>
                </a:ext>
              </a:extLst>
            </p:cNvPr>
            <p:cNvSpPr/>
            <p:nvPr/>
          </p:nvSpPr>
          <p:spPr>
            <a:xfrm>
              <a:off x="7580875" y="1097359"/>
              <a:ext cx="189621" cy="2024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25" h="21600" extrusionOk="0">
                  <a:moveTo>
                    <a:pt x="8100" y="1013"/>
                  </a:moveTo>
                  <a:cubicBezTo>
                    <a:pt x="8226" y="425"/>
                    <a:pt x="8774" y="0"/>
                    <a:pt x="9410" y="0"/>
                  </a:cubicBezTo>
                  <a:lnTo>
                    <a:pt x="11912" y="0"/>
                  </a:lnTo>
                  <a:cubicBezTo>
                    <a:pt x="12548" y="0"/>
                    <a:pt x="13096" y="425"/>
                    <a:pt x="13222" y="1013"/>
                  </a:cubicBezTo>
                  <a:lnTo>
                    <a:pt x="13829" y="3792"/>
                  </a:lnTo>
                  <a:cubicBezTo>
                    <a:pt x="14419" y="4030"/>
                    <a:pt x="14971" y="4336"/>
                    <a:pt x="15473" y="4697"/>
                  </a:cubicBezTo>
                  <a:lnTo>
                    <a:pt x="18310" y="3804"/>
                  </a:lnTo>
                  <a:cubicBezTo>
                    <a:pt x="18913" y="3613"/>
                    <a:pt x="19574" y="3851"/>
                    <a:pt x="19892" y="4376"/>
                  </a:cubicBezTo>
                  <a:lnTo>
                    <a:pt x="21143" y="6432"/>
                  </a:lnTo>
                  <a:cubicBezTo>
                    <a:pt x="21461" y="6957"/>
                    <a:pt x="21348" y="7616"/>
                    <a:pt x="20871" y="8017"/>
                  </a:cubicBezTo>
                  <a:lnTo>
                    <a:pt x="18641" y="9899"/>
                  </a:lnTo>
                  <a:cubicBezTo>
                    <a:pt x="18678" y="10192"/>
                    <a:pt x="18695" y="10494"/>
                    <a:pt x="18695" y="10800"/>
                  </a:cubicBezTo>
                  <a:cubicBezTo>
                    <a:pt x="18695" y="11106"/>
                    <a:pt x="18674" y="11408"/>
                    <a:pt x="18641" y="11701"/>
                  </a:cubicBezTo>
                  <a:lnTo>
                    <a:pt x="20875" y="13587"/>
                  </a:lnTo>
                  <a:cubicBezTo>
                    <a:pt x="21352" y="13988"/>
                    <a:pt x="21461" y="14651"/>
                    <a:pt x="21147" y="15172"/>
                  </a:cubicBezTo>
                  <a:lnTo>
                    <a:pt x="19896" y="17228"/>
                  </a:lnTo>
                  <a:cubicBezTo>
                    <a:pt x="19578" y="17749"/>
                    <a:pt x="18917" y="17991"/>
                    <a:pt x="18314" y="17800"/>
                  </a:cubicBezTo>
                  <a:lnTo>
                    <a:pt x="15477" y="16907"/>
                  </a:lnTo>
                  <a:cubicBezTo>
                    <a:pt x="14971" y="17268"/>
                    <a:pt x="14419" y="17570"/>
                    <a:pt x="13833" y="17812"/>
                  </a:cubicBezTo>
                  <a:lnTo>
                    <a:pt x="13230" y="20587"/>
                  </a:lnTo>
                  <a:cubicBezTo>
                    <a:pt x="13100" y="21179"/>
                    <a:pt x="12552" y="21600"/>
                    <a:pt x="11921" y="21600"/>
                  </a:cubicBezTo>
                  <a:lnTo>
                    <a:pt x="9418" y="21600"/>
                  </a:lnTo>
                  <a:cubicBezTo>
                    <a:pt x="8782" y="21600"/>
                    <a:pt x="8234" y="21175"/>
                    <a:pt x="8108" y="20587"/>
                  </a:cubicBezTo>
                  <a:lnTo>
                    <a:pt x="7506" y="17812"/>
                  </a:lnTo>
                  <a:cubicBezTo>
                    <a:pt x="6916" y="17574"/>
                    <a:pt x="6368" y="17268"/>
                    <a:pt x="5861" y="16907"/>
                  </a:cubicBezTo>
                  <a:lnTo>
                    <a:pt x="3012" y="17800"/>
                  </a:lnTo>
                  <a:cubicBezTo>
                    <a:pt x="2409" y="17991"/>
                    <a:pt x="1748" y="17753"/>
                    <a:pt x="1430" y="17228"/>
                  </a:cubicBezTo>
                  <a:lnTo>
                    <a:pt x="179" y="15172"/>
                  </a:lnTo>
                  <a:cubicBezTo>
                    <a:pt x="-139" y="14648"/>
                    <a:pt x="-26" y="13988"/>
                    <a:pt x="451" y="13587"/>
                  </a:cubicBezTo>
                  <a:lnTo>
                    <a:pt x="2686" y="11701"/>
                  </a:lnTo>
                  <a:cubicBezTo>
                    <a:pt x="2648" y="11408"/>
                    <a:pt x="2631" y="11106"/>
                    <a:pt x="2631" y="10800"/>
                  </a:cubicBezTo>
                  <a:cubicBezTo>
                    <a:pt x="2631" y="10494"/>
                    <a:pt x="2652" y="10192"/>
                    <a:pt x="2686" y="9899"/>
                  </a:cubicBezTo>
                  <a:lnTo>
                    <a:pt x="451" y="8013"/>
                  </a:lnTo>
                  <a:cubicBezTo>
                    <a:pt x="-26" y="7612"/>
                    <a:pt x="-135" y="6949"/>
                    <a:pt x="179" y="6428"/>
                  </a:cubicBezTo>
                  <a:lnTo>
                    <a:pt x="1430" y="4372"/>
                  </a:lnTo>
                  <a:cubicBezTo>
                    <a:pt x="1748" y="3847"/>
                    <a:pt x="2409" y="3609"/>
                    <a:pt x="3012" y="3800"/>
                  </a:cubicBezTo>
                  <a:lnTo>
                    <a:pt x="5849" y="4693"/>
                  </a:lnTo>
                  <a:cubicBezTo>
                    <a:pt x="6355" y="4332"/>
                    <a:pt x="6908" y="4030"/>
                    <a:pt x="7493" y="3788"/>
                  </a:cubicBezTo>
                  <a:lnTo>
                    <a:pt x="8100" y="1013"/>
                  </a:lnTo>
                  <a:close/>
                  <a:moveTo>
                    <a:pt x="10661" y="13977"/>
                  </a:moveTo>
                  <a:cubicBezTo>
                    <a:pt x="11857" y="13972"/>
                    <a:pt x="12960" y="13363"/>
                    <a:pt x="13554" y="12378"/>
                  </a:cubicBezTo>
                  <a:cubicBezTo>
                    <a:pt x="14148" y="11393"/>
                    <a:pt x="14143" y="10182"/>
                    <a:pt x="13541" y="9201"/>
                  </a:cubicBezTo>
                  <a:cubicBezTo>
                    <a:pt x="12939" y="8221"/>
                    <a:pt x="11832" y="7619"/>
                    <a:pt x="10636" y="7623"/>
                  </a:cubicBezTo>
                  <a:cubicBezTo>
                    <a:pt x="9440" y="7628"/>
                    <a:pt x="8337" y="8237"/>
                    <a:pt x="7743" y="9222"/>
                  </a:cubicBezTo>
                  <a:cubicBezTo>
                    <a:pt x="7149" y="10207"/>
                    <a:pt x="7154" y="11418"/>
                    <a:pt x="7756" y="12399"/>
                  </a:cubicBezTo>
                  <a:cubicBezTo>
                    <a:pt x="8358" y="13379"/>
                    <a:pt x="9465" y="13981"/>
                    <a:pt x="10661" y="13977"/>
                  </a:cubicBezTo>
                  <a:close/>
                </a:path>
              </a:pathLst>
            </a:custGeom>
            <a:solidFill>
              <a:srgbClr val="F59E0B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45" name="Text 34">
              <a:extLst>
                <a:ext uri="{FF2B5EF4-FFF2-40B4-BE49-F238E27FC236}">
                  <a16:creationId xmlns:a16="http://schemas.microsoft.com/office/drawing/2014/main" id="{75EC1FC6-8D97-DF1E-DA5F-E183005CD477}"/>
                </a:ext>
              </a:extLst>
            </p:cNvPr>
            <p:cNvSpPr txBox="1"/>
            <p:nvPr/>
          </p:nvSpPr>
          <p:spPr>
            <a:xfrm>
              <a:off x="7834313" y="1088231"/>
              <a:ext cx="3944938" cy="2286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10000"/>
                </a:lnSpc>
                <a:defRPr sz="1500" b="1">
                  <a:solidFill>
                    <a:srgbClr val="FFFFFF"/>
                  </a:solidFill>
                  <a:latin typeface="Liter"/>
                  <a:ea typeface="Liter"/>
                  <a:cs typeface="Liter"/>
                  <a:sym typeface="Liter"/>
                </a:defRPr>
              </a:lvl1pPr>
            </a:lstStyle>
            <a:p>
              <a:r>
                <a:t>Model Configuration</a:t>
              </a:r>
            </a:p>
          </p:txBody>
        </p:sp>
        <p:sp>
          <p:nvSpPr>
            <p:cNvPr id="46" name="Shape 35">
              <a:extLst>
                <a:ext uri="{FF2B5EF4-FFF2-40B4-BE49-F238E27FC236}">
                  <a16:creationId xmlns:a16="http://schemas.microsoft.com/office/drawing/2014/main" id="{9D489DA1-F840-669C-FB0A-9AAA92B6C8AF}"/>
                </a:ext>
              </a:extLst>
            </p:cNvPr>
            <p:cNvSpPr/>
            <p:nvPr/>
          </p:nvSpPr>
          <p:spPr>
            <a:xfrm>
              <a:off x="7556500" y="1452562"/>
              <a:ext cx="4127501" cy="730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2" y="0"/>
                  </a:moveTo>
                  <a:lnTo>
                    <a:pt x="21268" y="0"/>
                  </a:lnTo>
                  <a:cubicBezTo>
                    <a:pt x="21451" y="0"/>
                    <a:pt x="21600" y="841"/>
                    <a:pt x="21600" y="1878"/>
                  </a:cubicBezTo>
                  <a:lnTo>
                    <a:pt x="21600" y="19722"/>
                  </a:lnTo>
                  <a:cubicBezTo>
                    <a:pt x="21600" y="20759"/>
                    <a:pt x="21451" y="21600"/>
                    <a:pt x="21268" y="21600"/>
                  </a:cubicBezTo>
                  <a:lnTo>
                    <a:pt x="332" y="21600"/>
                  </a:lnTo>
                  <a:cubicBezTo>
                    <a:pt x="149" y="21600"/>
                    <a:pt x="0" y="20759"/>
                    <a:pt x="0" y="19722"/>
                  </a:cubicBezTo>
                  <a:lnTo>
                    <a:pt x="0" y="1878"/>
                  </a:lnTo>
                  <a:cubicBezTo>
                    <a:pt x="0" y="842"/>
                    <a:pt x="149" y="0"/>
                    <a:pt x="332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47" name="Text 36">
              <a:extLst>
                <a:ext uri="{FF2B5EF4-FFF2-40B4-BE49-F238E27FC236}">
                  <a16:creationId xmlns:a16="http://schemas.microsoft.com/office/drawing/2014/main" id="{643442C6-6C12-A600-1B56-AB5A6A957DB7}"/>
                </a:ext>
              </a:extLst>
            </p:cNvPr>
            <p:cNvSpPr txBox="1"/>
            <p:nvPr/>
          </p:nvSpPr>
          <p:spPr>
            <a:xfrm>
              <a:off x="7683499" y="1608137"/>
              <a:ext cx="3944939" cy="1651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100" b="1">
                  <a:solidFill>
                    <a:srgbClr val="F59E0B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Optimizer</a:t>
              </a:r>
            </a:p>
          </p:txBody>
        </p:sp>
        <p:sp>
          <p:nvSpPr>
            <p:cNvPr id="48" name="Text 37">
              <a:extLst>
                <a:ext uri="{FF2B5EF4-FFF2-40B4-BE49-F238E27FC236}">
                  <a16:creationId xmlns:a16="http://schemas.microsoft.com/office/drawing/2014/main" id="{F91FFD39-7EC3-46E7-A134-2B184607E5F5}"/>
                </a:ext>
              </a:extLst>
            </p:cNvPr>
            <p:cNvSpPr txBox="1"/>
            <p:nvPr/>
          </p:nvSpPr>
          <p:spPr>
            <a:xfrm>
              <a:off x="7683500" y="1855232"/>
              <a:ext cx="3937000" cy="2106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0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rPr dirty="0"/>
                <a:t>Adam (</a:t>
              </a:r>
              <a:r>
                <a:rPr dirty="0" err="1"/>
                <a:t>learning_rate</a:t>
              </a:r>
              <a:r>
                <a:rPr dirty="0"/>
                <a:t>=</a:t>
              </a:r>
              <a:r>
                <a:rPr lang="en-DE" dirty="0"/>
                <a:t>0.0001</a:t>
              </a:r>
              <a:r>
                <a:rPr dirty="0"/>
                <a:t>)</a:t>
              </a:r>
            </a:p>
          </p:txBody>
        </p:sp>
        <p:sp>
          <p:nvSpPr>
            <p:cNvPr id="49" name="Shape 38">
              <a:extLst>
                <a:ext uri="{FF2B5EF4-FFF2-40B4-BE49-F238E27FC236}">
                  <a16:creationId xmlns:a16="http://schemas.microsoft.com/office/drawing/2014/main" id="{5844A2DC-DF81-C3D4-23C7-A44E9086FC85}"/>
                </a:ext>
              </a:extLst>
            </p:cNvPr>
            <p:cNvSpPr/>
            <p:nvPr/>
          </p:nvSpPr>
          <p:spPr>
            <a:xfrm>
              <a:off x="7556500" y="2309813"/>
              <a:ext cx="4127501" cy="730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2" y="0"/>
                  </a:moveTo>
                  <a:lnTo>
                    <a:pt x="21268" y="0"/>
                  </a:lnTo>
                  <a:cubicBezTo>
                    <a:pt x="21451" y="0"/>
                    <a:pt x="21600" y="841"/>
                    <a:pt x="21600" y="1878"/>
                  </a:cubicBezTo>
                  <a:lnTo>
                    <a:pt x="21600" y="19722"/>
                  </a:lnTo>
                  <a:cubicBezTo>
                    <a:pt x="21600" y="20759"/>
                    <a:pt x="21451" y="21600"/>
                    <a:pt x="21268" y="21600"/>
                  </a:cubicBezTo>
                  <a:lnTo>
                    <a:pt x="332" y="21600"/>
                  </a:lnTo>
                  <a:cubicBezTo>
                    <a:pt x="149" y="21600"/>
                    <a:pt x="0" y="20759"/>
                    <a:pt x="0" y="19722"/>
                  </a:cubicBezTo>
                  <a:lnTo>
                    <a:pt x="0" y="1878"/>
                  </a:lnTo>
                  <a:cubicBezTo>
                    <a:pt x="0" y="842"/>
                    <a:pt x="149" y="0"/>
                    <a:pt x="332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50" name="Text 39">
              <a:extLst>
                <a:ext uri="{FF2B5EF4-FFF2-40B4-BE49-F238E27FC236}">
                  <a16:creationId xmlns:a16="http://schemas.microsoft.com/office/drawing/2014/main" id="{D85973EE-EA70-141C-C214-C4DCBB2A77D9}"/>
                </a:ext>
              </a:extLst>
            </p:cNvPr>
            <p:cNvSpPr txBox="1"/>
            <p:nvPr/>
          </p:nvSpPr>
          <p:spPr>
            <a:xfrm>
              <a:off x="7683499" y="2465388"/>
              <a:ext cx="3944939" cy="1651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100" b="1">
                  <a:solidFill>
                    <a:srgbClr val="22C55E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Loss Function</a:t>
              </a:r>
            </a:p>
          </p:txBody>
        </p:sp>
        <p:sp>
          <p:nvSpPr>
            <p:cNvPr id="51" name="Text 40">
              <a:extLst>
                <a:ext uri="{FF2B5EF4-FFF2-40B4-BE49-F238E27FC236}">
                  <a16:creationId xmlns:a16="http://schemas.microsoft.com/office/drawing/2014/main" id="{E1B06F9B-7D59-210E-1897-C747B13B8E37}"/>
                </a:ext>
              </a:extLst>
            </p:cNvPr>
            <p:cNvSpPr txBox="1"/>
            <p:nvPr/>
          </p:nvSpPr>
          <p:spPr>
            <a:xfrm>
              <a:off x="7683500" y="2741613"/>
              <a:ext cx="3937000" cy="1524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0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Mean Squared Error</a:t>
              </a:r>
            </a:p>
          </p:txBody>
        </p:sp>
        <p:sp>
          <p:nvSpPr>
            <p:cNvPr id="52" name="Shape 41">
              <a:extLst>
                <a:ext uri="{FF2B5EF4-FFF2-40B4-BE49-F238E27FC236}">
                  <a16:creationId xmlns:a16="http://schemas.microsoft.com/office/drawing/2014/main" id="{721F5C5E-1113-2A37-FC0F-22975B91DAA0}"/>
                </a:ext>
              </a:extLst>
            </p:cNvPr>
            <p:cNvSpPr/>
            <p:nvPr/>
          </p:nvSpPr>
          <p:spPr>
            <a:xfrm>
              <a:off x="7556500" y="3167063"/>
              <a:ext cx="4127501" cy="7302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2" y="0"/>
                  </a:moveTo>
                  <a:lnTo>
                    <a:pt x="21268" y="0"/>
                  </a:lnTo>
                  <a:cubicBezTo>
                    <a:pt x="21451" y="0"/>
                    <a:pt x="21600" y="841"/>
                    <a:pt x="21600" y="1878"/>
                  </a:cubicBezTo>
                  <a:lnTo>
                    <a:pt x="21600" y="19722"/>
                  </a:lnTo>
                  <a:cubicBezTo>
                    <a:pt x="21600" y="20759"/>
                    <a:pt x="21451" y="21600"/>
                    <a:pt x="21268" y="21600"/>
                  </a:cubicBezTo>
                  <a:lnTo>
                    <a:pt x="332" y="21600"/>
                  </a:lnTo>
                  <a:cubicBezTo>
                    <a:pt x="149" y="21600"/>
                    <a:pt x="0" y="20759"/>
                    <a:pt x="0" y="19722"/>
                  </a:cubicBezTo>
                  <a:lnTo>
                    <a:pt x="0" y="1878"/>
                  </a:lnTo>
                  <a:cubicBezTo>
                    <a:pt x="0" y="842"/>
                    <a:pt x="149" y="0"/>
                    <a:pt x="332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53" name="Text 42">
              <a:extLst>
                <a:ext uri="{FF2B5EF4-FFF2-40B4-BE49-F238E27FC236}">
                  <a16:creationId xmlns:a16="http://schemas.microsoft.com/office/drawing/2014/main" id="{CFC22FF5-B5AD-FEC1-48B5-DA4D74149680}"/>
                </a:ext>
              </a:extLst>
            </p:cNvPr>
            <p:cNvSpPr txBox="1"/>
            <p:nvPr/>
          </p:nvSpPr>
          <p:spPr>
            <a:xfrm>
              <a:off x="7683499" y="3322637"/>
              <a:ext cx="3944939" cy="1651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100" b="1">
                  <a:solidFill>
                    <a:srgbClr val="3B82F6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rPr lang="en-GB" dirty="0"/>
                <a:t>Metrics</a:t>
              </a:r>
              <a:endParaRPr dirty="0"/>
            </a:p>
          </p:txBody>
        </p:sp>
        <p:sp>
          <p:nvSpPr>
            <p:cNvPr id="54" name="Text 43">
              <a:extLst>
                <a:ext uri="{FF2B5EF4-FFF2-40B4-BE49-F238E27FC236}">
                  <a16:creationId xmlns:a16="http://schemas.microsoft.com/office/drawing/2014/main" id="{7F713609-15E5-090F-8534-B93AC53EB8C7}"/>
                </a:ext>
              </a:extLst>
            </p:cNvPr>
            <p:cNvSpPr txBox="1"/>
            <p:nvPr/>
          </p:nvSpPr>
          <p:spPr>
            <a:xfrm>
              <a:off x="7683500" y="3598862"/>
              <a:ext cx="3937000" cy="1524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0000"/>
                </a:lnSpc>
                <a:defRPr sz="10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r>
                <a:t>MSE, MAE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0A64F14-73A6-7B5D-2E16-5DA3FB4F08CA}"/>
              </a:ext>
            </a:extLst>
          </p:cNvPr>
          <p:cNvGrpSpPr/>
          <p:nvPr/>
        </p:nvGrpSpPr>
        <p:grpSpPr>
          <a:xfrm>
            <a:off x="6749858" y="4561490"/>
            <a:ext cx="4500564" cy="1723697"/>
            <a:chOff x="7369968" y="4282281"/>
            <a:chExt cx="4500564" cy="1456368"/>
          </a:xfrm>
        </p:grpSpPr>
        <p:sp>
          <p:nvSpPr>
            <p:cNvPr id="68" name="Shape 44">
              <a:extLst>
                <a:ext uri="{FF2B5EF4-FFF2-40B4-BE49-F238E27FC236}">
                  <a16:creationId xmlns:a16="http://schemas.microsoft.com/office/drawing/2014/main" id="{D0CA7CB1-9A85-1CFB-BA1C-EE79B367FBDB}"/>
                </a:ext>
              </a:extLst>
            </p:cNvPr>
            <p:cNvSpPr/>
            <p:nvPr/>
          </p:nvSpPr>
          <p:spPr>
            <a:xfrm>
              <a:off x="7369968" y="4282281"/>
              <a:ext cx="4500564" cy="1456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7" y="0"/>
                  </a:moveTo>
                  <a:lnTo>
                    <a:pt x="21143" y="0"/>
                  </a:lnTo>
                  <a:cubicBezTo>
                    <a:pt x="21395" y="0"/>
                    <a:pt x="21600" y="516"/>
                    <a:pt x="21600" y="1152"/>
                  </a:cubicBezTo>
                  <a:lnTo>
                    <a:pt x="21600" y="20448"/>
                  </a:lnTo>
                  <a:cubicBezTo>
                    <a:pt x="21600" y="21084"/>
                    <a:pt x="21395" y="21600"/>
                    <a:pt x="21143" y="21600"/>
                  </a:cubicBezTo>
                  <a:lnTo>
                    <a:pt x="457" y="21600"/>
                  </a:lnTo>
                  <a:cubicBezTo>
                    <a:pt x="205" y="21600"/>
                    <a:pt x="0" y="21084"/>
                    <a:pt x="0" y="20448"/>
                  </a:cubicBezTo>
                  <a:lnTo>
                    <a:pt x="0" y="1152"/>
                  </a:lnTo>
                  <a:cubicBezTo>
                    <a:pt x="0" y="516"/>
                    <a:pt x="205" y="0"/>
                    <a:pt x="457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E2E8F0"/>
              </a:solidFill>
            </a:ln>
            <a:effectLst>
              <a:outerShdw blurRad="114300" dist="79375" dir="5400000" rotWithShape="0">
                <a:srgbClr val="000000">
                  <a:alpha val="10196"/>
                </a:srgbClr>
              </a:outerShdw>
            </a:effectLst>
          </p:spPr>
          <p:txBody>
            <a:bodyPr lIns="45719" rIns="45719"/>
            <a:lstStyle/>
            <a:p>
              <a:endParaRPr dirty="0"/>
            </a:p>
          </p:txBody>
        </p:sp>
        <p:sp>
          <p:nvSpPr>
            <p:cNvPr id="69" name="Shape 45">
              <a:extLst>
                <a:ext uri="{FF2B5EF4-FFF2-40B4-BE49-F238E27FC236}">
                  <a16:creationId xmlns:a16="http://schemas.microsoft.com/office/drawing/2014/main" id="{4BE2D863-A990-5DE0-7888-4EF712371E13}"/>
                </a:ext>
              </a:extLst>
            </p:cNvPr>
            <p:cNvSpPr/>
            <p:nvPr/>
          </p:nvSpPr>
          <p:spPr>
            <a:xfrm>
              <a:off x="7584281" y="4508500"/>
              <a:ext cx="158751" cy="1587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16761" y="21600"/>
                    <a:pt x="21600" y="16761"/>
                    <a:pt x="21600" y="10800"/>
                  </a:cubicBezTo>
                  <a:cubicBezTo>
                    <a:pt x="21600" y="4839"/>
                    <a:pt x="16761" y="0"/>
                    <a:pt x="10800" y="0"/>
                  </a:cubicBezTo>
                  <a:cubicBezTo>
                    <a:pt x="4839" y="0"/>
                    <a:pt x="0" y="4839"/>
                    <a:pt x="0" y="10800"/>
                  </a:cubicBezTo>
                  <a:cubicBezTo>
                    <a:pt x="0" y="16761"/>
                    <a:pt x="4839" y="21600"/>
                    <a:pt x="10800" y="21600"/>
                  </a:cubicBezTo>
                  <a:close/>
                  <a:moveTo>
                    <a:pt x="9450" y="6750"/>
                  </a:moveTo>
                  <a:cubicBezTo>
                    <a:pt x="9450" y="6005"/>
                    <a:pt x="10055" y="5400"/>
                    <a:pt x="10800" y="5400"/>
                  </a:cubicBezTo>
                  <a:cubicBezTo>
                    <a:pt x="11545" y="5400"/>
                    <a:pt x="12150" y="6005"/>
                    <a:pt x="12150" y="6750"/>
                  </a:cubicBezTo>
                  <a:cubicBezTo>
                    <a:pt x="12150" y="7495"/>
                    <a:pt x="11545" y="8100"/>
                    <a:pt x="10800" y="8100"/>
                  </a:cubicBezTo>
                  <a:cubicBezTo>
                    <a:pt x="10055" y="8100"/>
                    <a:pt x="9450" y="7495"/>
                    <a:pt x="9450" y="6750"/>
                  </a:cubicBezTo>
                  <a:close/>
                  <a:moveTo>
                    <a:pt x="9113" y="9450"/>
                  </a:moveTo>
                  <a:lnTo>
                    <a:pt x="11137" y="9450"/>
                  </a:lnTo>
                  <a:cubicBezTo>
                    <a:pt x="11699" y="9450"/>
                    <a:pt x="12150" y="9901"/>
                    <a:pt x="12150" y="10463"/>
                  </a:cubicBezTo>
                  <a:lnTo>
                    <a:pt x="12150" y="14175"/>
                  </a:lnTo>
                  <a:lnTo>
                    <a:pt x="12487" y="14175"/>
                  </a:lnTo>
                  <a:cubicBezTo>
                    <a:pt x="13049" y="14175"/>
                    <a:pt x="13500" y="14626"/>
                    <a:pt x="13500" y="15187"/>
                  </a:cubicBezTo>
                  <a:cubicBezTo>
                    <a:pt x="13500" y="15749"/>
                    <a:pt x="13049" y="16200"/>
                    <a:pt x="12487" y="16200"/>
                  </a:cubicBezTo>
                  <a:lnTo>
                    <a:pt x="9113" y="16200"/>
                  </a:lnTo>
                  <a:cubicBezTo>
                    <a:pt x="8551" y="16200"/>
                    <a:pt x="8100" y="15749"/>
                    <a:pt x="8100" y="15187"/>
                  </a:cubicBezTo>
                  <a:cubicBezTo>
                    <a:pt x="8100" y="14626"/>
                    <a:pt x="8551" y="14175"/>
                    <a:pt x="9113" y="14175"/>
                  </a:cubicBezTo>
                  <a:lnTo>
                    <a:pt x="10125" y="14175"/>
                  </a:lnTo>
                  <a:lnTo>
                    <a:pt x="10125" y="11475"/>
                  </a:lnTo>
                  <a:lnTo>
                    <a:pt x="9113" y="11475"/>
                  </a:lnTo>
                  <a:cubicBezTo>
                    <a:pt x="8551" y="11475"/>
                    <a:pt x="8100" y="11024"/>
                    <a:pt x="8100" y="10463"/>
                  </a:cubicBezTo>
                  <a:cubicBezTo>
                    <a:pt x="8100" y="9901"/>
                    <a:pt x="8551" y="9450"/>
                    <a:pt x="9113" y="9450"/>
                  </a:cubicBezTo>
                  <a:close/>
                </a:path>
              </a:pathLst>
            </a:custGeom>
            <a:solidFill>
              <a:srgbClr val="3B82F6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70" name="Text 46">
              <a:extLst>
                <a:ext uri="{FF2B5EF4-FFF2-40B4-BE49-F238E27FC236}">
                  <a16:creationId xmlns:a16="http://schemas.microsoft.com/office/drawing/2014/main" id="{679E3A70-2771-6DF8-AFFE-04DAB7AF3D3E}"/>
                </a:ext>
              </a:extLst>
            </p:cNvPr>
            <p:cNvSpPr txBox="1"/>
            <p:nvPr/>
          </p:nvSpPr>
          <p:spPr>
            <a:xfrm>
              <a:off x="7802563" y="4498974"/>
              <a:ext cx="3952876" cy="177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0000"/>
                </a:lnSpc>
                <a:defRPr sz="1200" b="1">
                  <a:solidFill>
                    <a:srgbClr val="1E293B"/>
                  </a:solidFill>
                  <a:latin typeface="Liter"/>
                  <a:ea typeface="Liter"/>
                  <a:cs typeface="Liter"/>
                  <a:sym typeface="Liter"/>
                </a:defRPr>
              </a:lvl1pPr>
            </a:lstStyle>
            <a:p>
              <a:r>
                <a:t>Why LSTM?</a:t>
              </a:r>
            </a:p>
          </p:txBody>
        </p:sp>
        <p:sp>
          <p:nvSpPr>
            <p:cNvPr id="71" name="Shape 47">
              <a:extLst>
                <a:ext uri="{FF2B5EF4-FFF2-40B4-BE49-F238E27FC236}">
                  <a16:creationId xmlns:a16="http://schemas.microsoft.com/office/drawing/2014/main" id="{FD891743-2A0B-FA72-3CC9-197F950CFC3C}"/>
                </a:ext>
              </a:extLst>
            </p:cNvPr>
            <p:cNvSpPr/>
            <p:nvPr/>
          </p:nvSpPr>
          <p:spPr>
            <a:xfrm>
              <a:off x="7588256" y="4873597"/>
              <a:ext cx="111123" cy="1032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8" h="21345" extrusionOk="0">
                  <a:moveTo>
                    <a:pt x="20622" y="318"/>
                  </a:moveTo>
                  <a:cubicBezTo>
                    <a:pt x="21300" y="852"/>
                    <a:pt x="21452" y="1878"/>
                    <a:pt x="20959" y="2611"/>
                  </a:cubicBezTo>
                  <a:lnTo>
                    <a:pt x="8816" y="20667"/>
                  </a:lnTo>
                  <a:cubicBezTo>
                    <a:pt x="8556" y="21057"/>
                    <a:pt x="8152" y="21298"/>
                    <a:pt x="7707" y="21339"/>
                  </a:cubicBezTo>
                  <a:cubicBezTo>
                    <a:pt x="7261" y="21380"/>
                    <a:pt x="6829" y="21201"/>
                    <a:pt x="6516" y="20862"/>
                  </a:cubicBezTo>
                  <a:lnTo>
                    <a:pt x="445" y="14296"/>
                  </a:lnTo>
                  <a:cubicBezTo>
                    <a:pt x="-148" y="13655"/>
                    <a:pt x="-148" y="12614"/>
                    <a:pt x="445" y="11973"/>
                  </a:cubicBezTo>
                  <a:cubicBezTo>
                    <a:pt x="1038" y="11331"/>
                    <a:pt x="2001" y="11331"/>
                    <a:pt x="2593" y="11973"/>
                  </a:cubicBezTo>
                  <a:lnTo>
                    <a:pt x="7408" y="17179"/>
                  </a:lnTo>
                  <a:lnTo>
                    <a:pt x="18507" y="677"/>
                  </a:lnTo>
                  <a:cubicBezTo>
                    <a:pt x="19000" y="-56"/>
                    <a:pt x="19948" y="-220"/>
                    <a:pt x="20627" y="313"/>
                  </a:cubicBezTo>
                  <a:close/>
                </a:path>
              </a:pathLst>
            </a:custGeom>
            <a:solidFill>
              <a:srgbClr val="22C55E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72" name="Text 48">
              <a:extLst>
                <a:ext uri="{FF2B5EF4-FFF2-40B4-BE49-F238E27FC236}">
                  <a16:creationId xmlns:a16="http://schemas.microsoft.com/office/drawing/2014/main" id="{AC2075DC-EFF3-BC98-D84A-04D23C8BF9B7}"/>
                </a:ext>
              </a:extLst>
            </p:cNvPr>
            <p:cNvSpPr txBox="1"/>
            <p:nvPr/>
          </p:nvSpPr>
          <p:spPr>
            <a:xfrm>
              <a:off x="7786688" y="4845049"/>
              <a:ext cx="3246439" cy="1524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30000"/>
                </a:lnSpc>
                <a:defRPr sz="1000">
                  <a:solidFill>
                    <a:srgbClr val="475569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Captures </a:t>
              </a:r>
              <a:r>
                <a:rPr b="1"/>
                <a:t>temporal dependencies</a:t>
              </a:r>
              <a:r>
                <a:t> in weather patterns</a:t>
              </a:r>
            </a:p>
          </p:txBody>
        </p:sp>
        <p:sp>
          <p:nvSpPr>
            <p:cNvPr id="73" name="Shape 49">
              <a:extLst>
                <a:ext uri="{FF2B5EF4-FFF2-40B4-BE49-F238E27FC236}">
                  <a16:creationId xmlns:a16="http://schemas.microsoft.com/office/drawing/2014/main" id="{D69E46D8-8ED3-9ACE-243C-B308B9920752}"/>
                </a:ext>
              </a:extLst>
            </p:cNvPr>
            <p:cNvSpPr/>
            <p:nvPr/>
          </p:nvSpPr>
          <p:spPr>
            <a:xfrm>
              <a:off x="7588256" y="5159347"/>
              <a:ext cx="111123" cy="1032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8" h="21345" extrusionOk="0">
                  <a:moveTo>
                    <a:pt x="20622" y="318"/>
                  </a:moveTo>
                  <a:cubicBezTo>
                    <a:pt x="21300" y="852"/>
                    <a:pt x="21452" y="1878"/>
                    <a:pt x="20959" y="2611"/>
                  </a:cubicBezTo>
                  <a:lnTo>
                    <a:pt x="8816" y="20667"/>
                  </a:lnTo>
                  <a:cubicBezTo>
                    <a:pt x="8556" y="21057"/>
                    <a:pt x="8152" y="21298"/>
                    <a:pt x="7707" y="21339"/>
                  </a:cubicBezTo>
                  <a:cubicBezTo>
                    <a:pt x="7261" y="21380"/>
                    <a:pt x="6829" y="21201"/>
                    <a:pt x="6516" y="20862"/>
                  </a:cubicBezTo>
                  <a:lnTo>
                    <a:pt x="445" y="14296"/>
                  </a:lnTo>
                  <a:cubicBezTo>
                    <a:pt x="-148" y="13655"/>
                    <a:pt x="-148" y="12614"/>
                    <a:pt x="445" y="11973"/>
                  </a:cubicBezTo>
                  <a:cubicBezTo>
                    <a:pt x="1038" y="11331"/>
                    <a:pt x="2001" y="11331"/>
                    <a:pt x="2593" y="11973"/>
                  </a:cubicBezTo>
                  <a:lnTo>
                    <a:pt x="7408" y="17179"/>
                  </a:lnTo>
                  <a:lnTo>
                    <a:pt x="18507" y="677"/>
                  </a:lnTo>
                  <a:cubicBezTo>
                    <a:pt x="19000" y="-56"/>
                    <a:pt x="19948" y="-220"/>
                    <a:pt x="20627" y="313"/>
                  </a:cubicBezTo>
                  <a:close/>
                </a:path>
              </a:pathLst>
            </a:custGeom>
            <a:solidFill>
              <a:srgbClr val="22C55E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74" name="Text 50">
              <a:extLst>
                <a:ext uri="{FF2B5EF4-FFF2-40B4-BE49-F238E27FC236}">
                  <a16:creationId xmlns:a16="http://schemas.microsoft.com/office/drawing/2014/main" id="{5D1BCF03-DB9A-EE9C-B53D-84BDCB99BABC}"/>
                </a:ext>
              </a:extLst>
            </p:cNvPr>
            <p:cNvSpPr txBox="1"/>
            <p:nvPr/>
          </p:nvSpPr>
          <p:spPr>
            <a:xfrm>
              <a:off x="7786688" y="5130799"/>
              <a:ext cx="3151189" cy="1524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30000"/>
                </a:lnSpc>
                <a:defRPr sz="1000">
                  <a:solidFill>
                    <a:srgbClr val="475569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Handles </a:t>
              </a:r>
              <a:r>
                <a:rPr b="1"/>
                <a:t>sequential relationships</a:t>
              </a:r>
              <a:r>
                <a:t> in time-series data</a:t>
              </a:r>
            </a:p>
          </p:txBody>
        </p:sp>
        <p:sp>
          <p:nvSpPr>
            <p:cNvPr id="75" name="Shape 51">
              <a:extLst>
                <a:ext uri="{FF2B5EF4-FFF2-40B4-BE49-F238E27FC236}">
                  <a16:creationId xmlns:a16="http://schemas.microsoft.com/office/drawing/2014/main" id="{BA22C456-6C39-DB8A-B820-48812CF147F0}"/>
                </a:ext>
              </a:extLst>
            </p:cNvPr>
            <p:cNvSpPr/>
            <p:nvPr/>
          </p:nvSpPr>
          <p:spPr>
            <a:xfrm>
              <a:off x="7588256" y="5445097"/>
              <a:ext cx="111123" cy="1032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48" h="21345" extrusionOk="0">
                  <a:moveTo>
                    <a:pt x="20622" y="318"/>
                  </a:moveTo>
                  <a:cubicBezTo>
                    <a:pt x="21300" y="852"/>
                    <a:pt x="21452" y="1878"/>
                    <a:pt x="20959" y="2611"/>
                  </a:cubicBezTo>
                  <a:lnTo>
                    <a:pt x="8816" y="20667"/>
                  </a:lnTo>
                  <a:cubicBezTo>
                    <a:pt x="8556" y="21057"/>
                    <a:pt x="8152" y="21298"/>
                    <a:pt x="7707" y="21339"/>
                  </a:cubicBezTo>
                  <a:cubicBezTo>
                    <a:pt x="7261" y="21380"/>
                    <a:pt x="6829" y="21201"/>
                    <a:pt x="6516" y="20862"/>
                  </a:cubicBezTo>
                  <a:lnTo>
                    <a:pt x="445" y="14296"/>
                  </a:lnTo>
                  <a:cubicBezTo>
                    <a:pt x="-148" y="13655"/>
                    <a:pt x="-148" y="12614"/>
                    <a:pt x="445" y="11973"/>
                  </a:cubicBezTo>
                  <a:cubicBezTo>
                    <a:pt x="1038" y="11331"/>
                    <a:pt x="2001" y="11331"/>
                    <a:pt x="2593" y="11973"/>
                  </a:cubicBezTo>
                  <a:lnTo>
                    <a:pt x="7408" y="17179"/>
                  </a:lnTo>
                  <a:lnTo>
                    <a:pt x="18507" y="677"/>
                  </a:lnTo>
                  <a:cubicBezTo>
                    <a:pt x="19000" y="-56"/>
                    <a:pt x="19948" y="-220"/>
                    <a:pt x="20627" y="313"/>
                  </a:cubicBezTo>
                  <a:close/>
                </a:path>
              </a:pathLst>
            </a:custGeom>
            <a:solidFill>
              <a:srgbClr val="22C55E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76" name="Text 52">
              <a:extLst>
                <a:ext uri="{FF2B5EF4-FFF2-40B4-BE49-F238E27FC236}">
                  <a16:creationId xmlns:a16="http://schemas.microsoft.com/office/drawing/2014/main" id="{12468EB9-DC3C-3EC5-240F-303799DE366B}"/>
                </a:ext>
              </a:extLst>
            </p:cNvPr>
            <p:cNvSpPr txBox="1"/>
            <p:nvPr/>
          </p:nvSpPr>
          <p:spPr>
            <a:xfrm>
              <a:off x="7786688" y="5416549"/>
              <a:ext cx="2889251" cy="1524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30000"/>
                </a:lnSpc>
                <a:defRPr sz="1000">
                  <a:solidFill>
                    <a:srgbClr val="475569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Maintains </a:t>
              </a:r>
              <a:r>
                <a:rPr b="1"/>
                <a:t>long-term memory</a:t>
              </a:r>
              <a:r>
                <a:t> of weather trends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1984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4895-1AD1-EF36-66B3-01F0CDB4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00C7-4419-FBDD-1165-0E53A6397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Advanced Model - Hyperparameter tuning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60CC2-9C5E-CAAD-B011-2E855EB5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16B38-AEBA-09E7-AE99-568BDB535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1D412-D158-6A8C-3AA8-B7C8C60B7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8</a:t>
            </a:fld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98C27-058B-EDEF-01B7-07DD90680BF6}"/>
              </a:ext>
            </a:extLst>
          </p:cNvPr>
          <p:cNvSpPr txBox="1"/>
          <p:nvPr/>
        </p:nvSpPr>
        <p:spPr>
          <a:xfrm>
            <a:off x="3049361" y="32443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lang="en-DE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5774A93-27F9-ACE4-DB0D-8EAECDEE23F3}"/>
              </a:ext>
            </a:extLst>
          </p:cNvPr>
          <p:cNvGrpSpPr/>
          <p:nvPr/>
        </p:nvGrpSpPr>
        <p:grpSpPr>
          <a:xfrm>
            <a:off x="8216998" y="1508760"/>
            <a:ext cx="3144422" cy="4619089"/>
            <a:chOff x="9741877" y="1709615"/>
            <a:chExt cx="2109177" cy="365125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E41C5A1-546A-7464-6809-5CE6905672D8}"/>
                </a:ext>
              </a:extLst>
            </p:cNvPr>
            <p:cNvGrpSpPr/>
            <p:nvPr/>
          </p:nvGrpSpPr>
          <p:grpSpPr>
            <a:xfrm>
              <a:off x="9741877" y="1709615"/>
              <a:ext cx="2109177" cy="3651251"/>
              <a:chOff x="6167803" y="1709615"/>
              <a:chExt cx="5683251" cy="3651251"/>
            </a:xfrm>
          </p:grpSpPr>
          <p:sp>
            <p:nvSpPr>
              <p:cNvPr id="15" name="Shape 15">
                <a:extLst>
                  <a:ext uri="{FF2B5EF4-FFF2-40B4-BE49-F238E27FC236}">
                    <a16:creationId xmlns:a16="http://schemas.microsoft.com/office/drawing/2014/main" id="{C74F53C4-6C59-2F23-05C1-04717267D04D}"/>
                  </a:ext>
                </a:extLst>
              </p:cNvPr>
              <p:cNvSpPr/>
              <p:nvPr/>
            </p:nvSpPr>
            <p:spPr>
              <a:xfrm>
                <a:off x="6167803" y="1709615"/>
                <a:ext cx="5683251" cy="36512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62" y="0"/>
                    </a:moveTo>
                    <a:lnTo>
                      <a:pt x="21238" y="0"/>
                    </a:lnTo>
                    <a:cubicBezTo>
                      <a:pt x="21438" y="0"/>
                      <a:pt x="21600" y="252"/>
                      <a:pt x="21600" y="564"/>
                    </a:cubicBezTo>
                    <a:lnTo>
                      <a:pt x="21600" y="21036"/>
                    </a:lnTo>
                    <a:cubicBezTo>
                      <a:pt x="21600" y="21348"/>
                      <a:pt x="21438" y="21600"/>
                      <a:pt x="21238" y="21600"/>
                    </a:cubicBezTo>
                    <a:lnTo>
                      <a:pt x="362" y="21600"/>
                    </a:lnTo>
                    <a:cubicBezTo>
                      <a:pt x="162" y="21600"/>
                      <a:pt x="0" y="21348"/>
                      <a:pt x="0" y="21036"/>
                    </a:cubicBezTo>
                    <a:lnTo>
                      <a:pt x="0" y="564"/>
                    </a:lnTo>
                    <a:cubicBezTo>
                      <a:pt x="0" y="253"/>
                      <a:pt x="162" y="0"/>
                      <a:pt x="36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E293B"/>
                  </a:gs>
                  <a:gs pos="100000">
                    <a:srgbClr val="334155"/>
                  </a:gs>
                </a:gsLst>
                <a:lin ang="2700000"/>
              </a:gradFill>
              <a:ln w="12700">
                <a:miter lim="400000"/>
              </a:ln>
            </p:spPr>
            <p:txBody>
              <a:bodyPr lIns="45719" rIns="45719"/>
              <a:lstStyle/>
              <a:p>
                <a:endParaRPr dirty="0"/>
              </a:p>
            </p:txBody>
          </p:sp>
          <p:sp>
            <p:nvSpPr>
              <p:cNvPr id="17" name="Text 17">
                <a:extLst>
                  <a:ext uri="{FF2B5EF4-FFF2-40B4-BE49-F238E27FC236}">
                    <a16:creationId xmlns:a16="http://schemas.microsoft.com/office/drawing/2014/main" id="{7EFD7D3E-C86D-CD81-A832-17641F65569A}"/>
                  </a:ext>
                </a:extLst>
              </p:cNvPr>
              <p:cNvSpPr txBox="1"/>
              <p:nvPr/>
            </p:nvSpPr>
            <p:spPr>
              <a:xfrm>
                <a:off x="7399744" y="1879874"/>
                <a:ext cx="4356061" cy="24122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lnSpc>
                    <a:spcPct val="110000"/>
                  </a:lnSpc>
                  <a:defRPr sz="1500" b="1">
                    <a:solidFill>
                      <a:srgbClr val="FFFFFF"/>
                    </a:solidFill>
                    <a:latin typeface="Liter"/>
                    <a:ea typeface="Liter"/>
                    <a:cs typeface="Liter"/>
                    <a:sym typeface="Liter"/>
                  </a:defRPr>
                </a:lvl1pPr>
              </a:lstStyle>
              <a:p>
                <a:r>
                  <a:rPr dirty="0"/>
                  <a:t>Best Configuration</a:t>
                </a:r>
              </a:p>
            </p:txBody>
          </p:sp>
          <p:sp>
            <p:nvSpPr>
              <p:cNvPr id="18" name="Shape 18">
                <a:extLst>
                  <a:ext uri="{FF2B5EF4-FFF2-40B4-BE49-F238E27FC236}">
                    <a16:creationId xmlns:a16="http://schemas.microsoft.com/office/drawing/2014/main" id="{9862891B-FA22-1B9E-8EF2-0A457E454C76}"/>
                  </a:ext>
                </a:extLst>
              </p:cNvPr>
              <p:cNvSpPr/>
              <p:nvPr/>
            </p:nvSpPr>
            <p:spPr>
              <a:xfrm>
                <a:off x="6358303" y="2273177"/>
                <a:ext cx="5302251" cy="6588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59" y="0"/>
                    </a:moveTo>
                    <a:lnTo>
                      <a:pt x="21341" y="0"/>
                    </a:lnTo>
                    <a:cubicBezTo>
                      <a:pt x="21484" y="0"/>
                      <a:pt x="21600" y="932"/>
                      <a:pt x="21600" y="2082"/>
                    </a:cubicBezTo>
                    <a:lnTo>
                      <a:pt x="21600" y="19518"/>
                    </a:lnTo>
                    <a:cubicBezTo>
                      <a:pt x="21600" y="20668"/>
                      <a:pt x="21484" y="21600"/>
                      <a:pt x="21341" y="21600"/>
                    </a:cubicBezTo>
                    <a:lnTo>
                      <a:pt x="259" y="21600"/>
                    </a:lnTo>
                    <a:cubicBezTo>
                      <a:pt x="116" y="21600"/>
                      <a:pt x="0" y="20668"/>
                      <a:pt x="0" y="19518"/>
                    </a:cubicBezTo>
                    <a:lnTo>
                      <a:pt x="0" y="2082"/>
                    </a:lnTo>
                    <a:cubicBezTo>
                      <a:pt x="0" y="933"/>
                      <a:pt x="116" y="0"/>
                      <a:pt x="259" y="0"/>
                    </a:cubicBezTo>
                    <a:close/>
                  </a:path>
                </a:pathLst>
              </a:custGeom>
              <a:solidFill>
                <a:srgbClr val="FFFFFF">
                  <a:alpha val="10196"/>
                </a:srgbClr>
              </a:solidFill>
              <a:ln w="12700">
                <a:miter lim="400000"/>
              </a:ln>
            </p:spPr>
            <p:txBody>
              <a:bodyPr lIns="45719" rIns="45719"/>
              <a:lstStyle/>
              <a:p>
                <a:endParaRPr/>
              </a:p>
            </p:txBody>
          </p:sp>
          <p:sp>
            <p:nvSpPr>
              <p:cNvPr id="19" name="Text 19">
                <a:extLst>
                  <a:ext uri="{FF2B5EF4-FFF2-40B4-BE49-F238E27FC236}">
                    <a16:creationId xmlns:a16="http://schemas.microsoft.com/office/drawing/2014/main" id="{1BD4A8A7-78A5-CFAC-966F-60A55C5E7F60}"/>
                  </a:ext>
                </a:extLst>
              </p:cNvPr>
              <p:cNvSpPr txBox="1"/>
              <p:nvPr/>
            </p:nvSpPr>
            <p:spPr>
              <a:xfrm>
                <a:off x="6485303" y="2416052"/>
                <a:ext cx="2024797" cy="14223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lnSpc>
                    <a:spcPct val="120000"/>
                  </a:lnSpc>
                  <a:defRPr sz="800">
                    <a:solidFill>
                      <a:srgbClr val="FFFFFF">
                        <a:alpha val="80000"/>
                      </a:srgbClr>
                    </a:solidFill>
                    <a:latin typeface="MiSans"/>
                    <a:ea typeface="MiSans"/>
                    <a:cs typeface="MiSans"/>
                    <a:sym typeface="MiSans"/>
                  </a:defRPr>
                </a:lvl1pPr>
              </a:lstStyle>
              <a:p>
                <a:r>
                  <a:rPr dirty="0"/>
                  <a:t>Units</a:t>
                </a:r>
              </a:p>
            </p:txBody>
          </p:sp>
          <p:sp>
            <p:nvSpPr>
              <p:cNvPr id="20" name="Text 20">
                <a:extLst>
                  <a:ext uri="{FF2B5EF4-FFF2-40B4-BE49-F238E27FC236}">
                    <a16:creationId xmlns:a16="http://schemas.microsoft.com/office/drawing/2014/main" id="{EBA55436-95F5-8E2A-3B71-B19126676638}"/>
                  </a:ext>
                </a:extLst>
              </p:cNvPr>
              <p:cNvSpPr txBox="1"/>
              <p:nvPr/>
            </p:nvSpPr>
            <p:spPr>
              <a:xfrm>
                <a:off x="6485303" y="2561350"/>
                <a:ext cx="1389456" cy="24122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lnSpc>
                    <a:spcPct val="110000"/>
                  </a:lnSpc>
                  <a:defRPr sz="1500" b="1">
                    <a:solidFill>
                      <a:srgbClr val="22C55E"/>
                    </a:solidFill>
                    <a:latin typeface="MiSans"/>
                    <a:ea typeface="MiSans"/>
                    <a:cs typeface="MiSans"/>
                    <a:sym typeface="MiSans"/>
                  </a:defRPr>
                </a:lvl1pPr>
              </a:lstStyle>
              <a:p>
                <a:r>
                  <a:rPr lang="de-DE" dirty="0"/>
                  <a:t>6</a:t>
                </a:r>
                <a:r>
                  <a:rPr dirty="0"/>
                  <a:t>0</a:t>
                </a:r>
              </a:p>
            </p:txBody>
          </p:sp>
          <p:sp>
            <p:nvSpPr>
              <p:cNvPr id="22" name="Shape 22">
                <a:extLst>
                  <a:ext uri="{FF2B5EF4-FFF2-40B4-BE49-F238E27FC236}">
                    <a16:creationId xmlns:a16="http://schemas.microsoft.com/office/drawing/2014/main" id="{65B3D2DC-0992-5E22-6AB9-1917C6549EF4}"/>
                  </a:ext>
                </a:extLst>
              </p:cNvPr>
              <p:cNvSpPr/>
              <p:nvPr/>
            </p:nvSpPr>
            <p:spPr>
              <a:xfrm>
                <a:off x="6358303" y="3027239"/>
                <a:ext cx="5302251" cy="6588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59" y="0"/>
                    </a:moveTo>
                    <a:lnTo>
                      <a:pt x="21341" y="0"/>
                    </a:lnTo>
                    <a:cubicBezTo>
                      <a:pt x="21484" y="0"/>
                      <a:pt x="21600" y="932"/>
                      <a:pt x="21600" y="2082"/>
                    </a:cubicBezTo>
                    <a:lnTo>
                      <a:pt x="21600" y="19518"/>
                    </a:lnTo>
                    <a:cubicBezTo>
                      <a:pt x="21600" y="20668"/>
                      <a:pt x="21484" y="21600"/>
                      <a:pt x="21341" y="21600"/>
                    </a:cubicBezTo>
                    <a:lnTo>
                      <a:pt x="259" y="21600"/>
                    </a:lnTo>
                    <a:cubicBezTo>
                      <a:pt x="116" y="21600"/>
                      <a:pt x="0" y="20668"/>
                      <a:pt x="0" y="19518"/>
                    </a:cubicBezTo>
                    <a:lnTo>
                      <a:pt x="0" y="2082"/>
                    </a:lnTo>
                    <a:cubicBezTo>
                      <a:pt x="0" y="933"/>
                      <a:pt x="116" y="0"/>
                      <a:pt x="259" y="0"/>
                    </a:cubicBezTo>
                    <a:close/>
                  </a:path>
                </a:pathLst>
              </a:custGeom>
              <a:solidFill>
                <a:srgbClr val="FFFFFF">
                  <a:alpha val="10196"/>
                </a:srgbClr>
              </a:solidFill>
              <a:ln w="12700">
                <a:miter lim="400000"/>
              </a:ln>
            </p:spPr>
            <p:txBody>
              <a:bodyPr lIns="45719" rIns="45719"/>
              <a:lstStyle/>
              <a:p>
                <a:endParaRPr/>
              </a:p>
            </p:txBody>
          </p:sp>
          <p:sp>
            <p:nvSpPr>
              <p:cNvPr id="23" name="Text 23">
                <a:extLst>
                  <a:ext uri="{FF2B5EF4-FFF2-40B4-BE49-F238E27FC236}">
                    <a16:creationId xmlns:a16="http://schemas.microsoft.com/office/drawing/2014/main" id="{2A090DF4-3AFA-A4E4-F595-ED9E9C4A55BA}"/>
                  </a:ext>
                </a:extLst>
              </p:cNvPr>
              <p:cNvSpPr txBox="1"/>
              <p:nvPr/>
            </p:nvSpPr>
            <p:spPr>
              <a:xfrm>
                <a:off x="6469806" y="3141468"/>
                <a:ext cx="1342967" cy="13792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lnSpc>
                    <a:spcPct val="120000"/>
                  </a:lnSpc>
                  <a:defRPr sz="800">
                    <a:solidFill>
                      <a:srgbClr val="FFFFFF">
                        <a:alpha val="80000"/>
                      </a:srgbClr>
                    </a:solidFill>
                    <a:latin typeface="MiSans"/>
                    <a:ea typeface="MiSans"/>
                    <a:cs typeface="MiSans"/>
                    <a:sym typeface="MiSans"/>
                  </a:defRPr>
                </a:lvl1pPr>
              </a:lstStyle>
              <a:p>
                <a:r>
                  <a:rPr dirty="0"/>
                  <a:t>Batch Size</a:t>
                </a:r>
              </a:p>
            </p:txBody>
          </p:sp>
          <p:sp>
            <p:nvSpPr>
              <p:cNvPr id="24" name="Text 24">
                <a:extLst>
                  <a:ext uri="{FF2B5EF4-FFF2-40B4-BE49-F238E27FC236}">
                    <a16:creationId xmlns:a16="http://schemas.microsoft.com/office/drawing/2014/main" id="{9F99BE80-8144-BE05-DDC1-6827656B15A6}"/>
                  </a:ext>
                </a:extLst>
              </p:cNvPr>
              <p:cNvSpPr txBox="1"/>
              <p:nvPr/>
            </p:nvSpPr>
            <p:spPr>
              <a:xfrm>
                <a:off x="6485303" y="3340683"/>
                <a:ext cx="635000" cy="19067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lnSpc>
                    <a:spcPct val="110000"/>
                  </a:lnSpc>
                  <a:defRPr sz="1500" b="1">
                    <a:solidFill>
                      <a:srgbClr val="3B82F6"/>
                    </a:solidFill>
                    <a:latin typeface="MiSans"/>
                    <a:ea typeface="MiSans"/>
                    <a:cs typeface="MiSans"/>
                    <a:sym typeface="MiSans"/>
                  </a:defRPr>
                </a:lvl1pPr>
              </a:lstStyle>
              <a:p>
                <a:r>
                  <a:rPr lang="de-DE" dirty="0"/>
                  <a:t>16</a:t>
                </a:r>
                <a:endParaRPr dirty="0"/>
              </a:p>
            </p:txBody>
          </p:sp>
          <p:sp>
            <p:nvSpPr>
              <p:cNvPr id="26" name="Shape 26">
                <a:extLst>
                  <a:ext uri="{FF2B5EF4-FFF2-40B4-BE49-F238E27FC236}">
                    <a16:creationId xmlns:a16="http://schemas.microsoft.com/office/drawing/2014/main" id="{6FD9DF09-DDC8-B482-4E13-E6B84604141D}"/>
                  </a:ext>
                </a:extLst>
              </p:cNvPr>
              <p:cNvSpPr/>
              <p:nvPr/>
            </p:nvSpPr>
            <p:spPr>
              <a:xfrm>
                <a:off x="6358303" y="3781303"/>
                <a:ext cx="5302251" cy="6588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59" y="0"/>
                    </a:moveTo>
                    <a:lnTo>
                      <a:pt x="21341" y="0"/>
                    </a:lnTo>
                    <a:cubicBezTo>
                      <a:pt x="21484" y="0"/>
                      <a:pt x="21600" y="932"/>
                      <a:pt x="21600" y="2082"/>
                    </a:cubicBezTo>
                    <a:lnTo>
                      <a:pt x="21600" y="19518"/>
                    </a:lnTo>
                    <a:cubicBezTo>
                      <a:pt x="21600" y="20668"/>
                      <a:pt x="21484" y="21600"/>
                      <a:pt x="21341" y="21600"/>
                    </a:cubicBezTo>
                    <a:lnTo>
                      <a:pt x="259" y="21600"/>
                    </a:lnTo>
                    <a:cubicBezTo>
                      <a:pt x="116" y="21600"/>
                      <a:pt x="0" y="20668"/>
                      <a:pt x="0" y="19518"/>
                    </a:cubicBezTo>
                    <a:lnTo>
                      <a:pt x="0" y="2082"/>
                    </a:lnTo>
                    <a:cubicBezTo>
                      <a:pt x="0" y="933"/>
                      <a:pt x="116" y="0"/>
                      <a:pt x="259" y="0"/>
                    </a:cubicBezTo>
                    <a:close/>
                  </a:path>
                </a:pathLst>
              </a:custGeom>
              <a:solidFill>
                <a:srgbClr val="FFFFFF">
                  <a:alpha val="10196"/>
                </a:srgbClr>
              </a:solidFill>
              <a:ln w="12700">
                <a:miter lim="400000"/>
              </a:ln>
            </p:spPr>
            <p:txBody>
              <a:bodyPr lIns="45719" rIns="45719"/>
              <a:lstStyle/>
              <a:p>
                <a:endParaRPr/>
              </a:p>
            </p:txBody>
          </p:sp>
          <p:sp>
            <p:nvSpPr>
              <p:cNvPr id="27" name="Text 27">
                <a:extLst>
                  <a:ext uri="{FF2B5EF4-FFF2-40B4-BE49-F238E27FC236}">
                    <a16:creationId xmlns:a16="http://schemas.microsoft.com/office/drawing/2014/main" id="{16AB8CBD-C45C-77E3-065D-4199FF7EE3BF}"/>
                  </a:ext>
                </a:extLst>
              </p:cNvPr>
              <p:cNvSpPr txBox="1"/>
              <p:nvPr/>
            </p:nvSpPr>
            <p:spPr>
              <a:xfrm>
                <a:off x="6485303" y="3922768"/>
                <a:ext cx="1559915" cy="13792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lnSpc>
                    <a:spcPct val="120000"/>
                  </a:lnSpc>
                  <a:defRPr sz="800">
                    <a:solidFill>
                      <a:srgbClr val="FFFFFF">
                        <a:alpha val="80000"/>
                      </a:srgbClr>
                    </a:solidFill>
                    <a:latin typeface="MiSans"/>
                    <a:ea typeface="MiSans"/>
                    <a:cs typeface="MiSans"/>
                    <a:sym typeface="MiSans"/>
                  </a:defRPr>
                </a:lvl1pPr>
              </a:lstStyle>
              <a:p>
                <a:r>
                  <a:rPr dirty="0"/>
                  <a:t>Epochs</a:t>
                </a:r>
              </a:p>
            </p:txBody>
          </p:sp>
          <p:sp>
            <p:nvSpPr>
              <p:cNvPr id="28" name="Text 28">
                <a:extLst>
                  <a:ext uri="{FF2B5EF4-FFF2-40B4-BE49-F238E27FC236}">
                    <a16:creationId xmlns:a16="http://schemas.microsoft.com/office/drawing/2014/main" id="{8033B180-67E6-1C60-B5D1-C1C5837DE44E}"/>
                  </a:ext>
                </a:extLst>
              </p:cNvPr>
              <p:cNvSpPr txBox="1"/>
              <p:nvPr/>
            </p:nvSpPr>
            <p:spPr>
              <a:xfrm>
                <a:off x="6485303" y="4067693"/>
                <a:ext cx="1358463" cy="24122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lnSpc>
                    <a:spcPct val="110000"/>
                  </a:lnSpc>
                  <a:defRPr sz="1500" b="1">
                    <a:solidFill>
                      <a:srgbClr val="F59E0B"/>
                    </a:solidFill>
                    <a:latin typeface="MiSans"/>
                    <a:ea typeface="MiSans"/>
                    <a:cs typeface="MiSans"/>
                    <a:sym typeface="MiSans"/>
                  </a:defRPr>
                </a:lvl1pPr>
              </a:lstStyle>
              <a:p>
                <a:r>
                  <a:rPr lang="de-DE" dirty="0"/>
                  <a:t>6</a:t>
                </a:r>
                <a:r>
                  <a:rPr dirty="0"/>
                  <a:t>0</a:t>
                </a:r>
              </a:p>
            </p:txBody>
          </p:sp>
          <p:sp>
            <p:nvSpPr>
              <p:cNvPr id="30" name="Shape 30">
                <a:extLst>
                  <a:ext uri="{FF2B5EF4-FFF2-40B4-BE49-F238E27FC236}">
                    <a16:creationId xmlns:a16="http://schemas.microsoft.com/office/drawing/2014/main" id="{2957BC14-CB39-9AB0-A9EE-87A9B9D1D3CD}"/>
                  </a:ext>
                </a:extLst>
              </p:cNvPr>
              <p:cNvSpPr/>
              <p:nvPr/>
            </p:nvSpPr>
            <p:spPr>
              <a:xfrm>
                <a:off x="6358303" y="4535365"/>
                <a:ext cx="5302251" cy="635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59" y="0"/>
                    </a:moveTo>
                    <a:lnTo>
                      <a:pt x="21341" y="0"/>
                    </a:lnTo>
                    <a:cubicBezTo>
                      <a:pt x="21484" y="0"/>
                      <a:pt x="21600" y="968"/>
                      <a:pt x="21600" y="2160"/>
                    </a:cubicBezTo>
                    <a:lnTo>
                      <a:pt x="21600" y="19440"/>
                    </a:lnTo>
                    <a:cubicBezTo>
                      <a:pt x="21600" y="20632"/>
                      <a:pt x="21484" y="21600"/>
                      <a:pt x="21341" y="21600"/>
                    </a:cubicBezTo>
                    <a:lnTo>
                      <a:pt x="259" y="21600"/>
                    </a:lnTo>
                    <a:cubicBezTo>
                      <a:pt x="116" y="21600"/>
                      <a:pt x="0" y="20632"/>
                      <a:pt x="0" y="19440"/>
                    </a:cubicBezTo>
                    <a:lnTo>
                      <a:pt x="0" y="2160"/>
                    </a:lnTo>
                    <a:cubicBezTo>
                      <a:pt x="0" y="968"/>
                      <a:pt x="116" y="0"/>
                      <a:pt x="259" y="0"/>
                    </a:cubicBezTo>
                    <a:close/>
                  </a:path>
                </a:pathLst>
              </a:custGeom>
              <a:solidFill>
                <a:srgbClr val="FFFFFF">
                  <a:alpha val="10196"/>
                </a:srgbClr>
              </a:solidFill>
              <a:ln w="12700">
                <a:miter lim="400000"/>
              </a:ln>
            </p:spPr>
            <p:txBody>
              <a:bodyPr lIns="45719" rIns="45719"/>
              <a:lstStyle/>
              <a:p>
                <a:endParaRPr/>
              </a:p>
            </p:txBody>
          </p:sp>
          <p:sp>
            <p:nvSpPr>
              <p:cNvPr id="31" name="Text 31">
                <a:extLst>
                  <a:ext uri="{FF2B5EF4-FFF2-40B4-BE49-F238E27FC236}">
                    <a16:creationId xmlns:a16="http://schemas.microsoft.com/office/drawing/2014/main" id="{D87E1E5A-B473-D171-E091-68EF4E116B5A}"/>
                  </a:ext>
                </a:extLst>
              </p:cNvPr>
              <p:cNvSpPr txBox="1"/>
              <p:nvPr/>
            </p:nvSpPr>
            <p:spPr>
              <a:xfrm>
                <a:off x="6485303" y="4673610"/>
                <a:ext cx="1931820" cy="13792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anchor="ctr">
                <a:spAutoFit/>
              </a:bodyPr>
              <a:lstStyle>
                <a:lvl1pPr>
                  <a:lnSpc>
                    <a:spcPct val="120000"/>
                  </a:lnSpc>
                  <a:defRPr sz="800">
                    <a:solidFill>
                      <a:srgbClr val="FFFFFF">
                        <a:alpha val="80000"/>
                      </a:srgbClr>
                    </a:solidFill>
                    <a:latin typeface="MiSans"/>
                    <a:ea typeface="MiSans"/>
                    <a:cs typeface="MiSans"/>
                    <a:sym typeface="MiSans"/>
                  </a:defRPr>
                </a:lvl1pPr>
              </a:lstStyle>
              <a:p>
                <a:r>
                  <a:rPr dirty="0"/>
                  <a:t>Learning Rate</a:t>
                </a:r>
              </a:p>
            </p:txBody>
          </p:sp>
          <p:sp>
            <p:nvSpPr>
              <p:cNvPr id="32" name="Text 32">
                <a:extLst>
                  <a:ext uri="{FF2B5EF4-FFF2-40B4-BE49-F238E27FC236}">
                    <a16:creationId xmlns:a16="http://schemas.microsoft.com/office/drawing/2014/main" id="{17E81B7C-A337-518B-C9D1-16038F7BA14E}"/>
                  </a:ext>
                </a:extLst>
              </p:cNvPr>
              <p:cNvSpPr txBox="1"/>
              <p:nvPr/>
            </p:nvSpPr>
            <p:spPr>
              <a:xfrm>
                <a:off x="6485301" y="4850485"/>
                <a:ext cx="785815" cy="16350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/>
              <a:p>
                <a:pPr>
                  <a:lnSpc>
                    <a:spcPct val="120000"/>
                  </a:lnSpc>
                  <a:defRPr sz="1200" b="1">
                    <a:solidFill>
                      <a:srgbClr val="8B5CF6"/>
                    </a:solidFill>
                    <a:latin typeface="MiSans"/>
                    <a:ea typeface="MiSans"/>
                    <a:cs typeface="MiSans"/>
                    <a:sym typeface="MiSans"/>
                  </a:defRPr>
                </a:pPr>
                <a:r>
                  <a:rPr dirty="0"/>
                  <a:t>10</a:t>
                </a:r>
                <a:r>
                  <a:rPr sz="900" dirty="0"/>
                  <a:t>-</a:t>
                </a:r>
                <a:r>
                  <a:rPr lang="de-DE" sz="900" dirty="0"/>
                  <a:t>4</a:t>
                </a:r>
                <a:endParaRPr sz="900" dirty="0"/>
              </a:p>
            </p:txBody>
          </p:sp>
        </p:grpSp>
        <p:sp>
          <p:nvSpPr>
            <p:cNvPr id="21" name="Shape 21">
              <a:extLst>
                <a:ext uri="{FF2B5EF4-FFF2-40B4-BE49-F238E27FC236}">
                  <a16:creationId xmlns:a16="http://schemas.microsoft.com/office/drawing/2014/main" id="{44B5BC8E-8E7A-1770-63D8-3AC7F3A2420D}"/>
                </a:ext>
              </a:extLst>
            </p:cNvPr>
            <p:cNvSpPr/>
            <p:nvPr/>
          </p:nvSpPr>
          <p:spPr>
            <a:xfrm>
              <a:off x="11319241" y="2507333"/>
              <a:ext cx="190501" cy="190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25" y="1013"/>
                  </a:moveTo>
                  <a:cubicBezTo>
                    <a:pt x="7425" y="451"/>
                    <a:pt x="6974" y="0"/>
                    <a:pt x="6413" y="0"/>
                  </a:cubicBezTo>
                  <a:cubicBezTo>
                    <a:pt x="5851" y="0"/>
                    <a:pt x="5400" y="451"/>
                    <a:pt x="5400" y="1013"/>
                  </a:cubicBezTo>
                  <a:lnTo>
                    <a:pt x="5400" y="2700"/>
                  </a:lnTo>
                  <a:cubicBezTo>
                    <a:pt x="3911" y="2700"/>
                    <a:pt x="2700" y="3911"/>
                    <a:pt x="2700" y="5400"/>
                  </a:cubicBezTo>
                  <a:lnTo>
                    <a:pt x="1013" y="5400"/>
                  </a:lnTo>
                  <a:cubicBezTo>
                    <a:pt x="451" y="5400"/>
                    <a:pt x="0" y="5851"/>
                    <a:pt x="0" y="6413"/>
                  </a:cubicBezTo>
                  <a:cubicBezTo>
                    <a:pt x="0" y="6974"/>
                    <a:pt x="451" y="7425"/>
                    <a:pt x="1013" y="7425"/>
                  </a:cubicBezTo>
                  <a:lnTo>
                    <a:pt x="2700" y="7425"/>
                  </a:lnTo>
                  <a:lnTo>
                    <a:pt x="2700" y="9787"/>
                  </a:lnTo>
                  <a:lnTo>
                    <a:pt x="1013" y="9787"/>
                  </a:lnTo>
                  <a:cubicBezTo>
                    <a:pt x="451" y="9787"/>
                    <a:pt x="0" y="10239"/>
                    <a:pt x="0" y="10800"/>
                  </a:cubicBezTo>
                  <a:cubicBezTo>
                    <a:pt x="0" y="11361"/>
                    <a:pt x="451" y="11813"/>
                    <a:pt x="1013" y="11813"/>
                  </a:cubicBezTo>
                  <a:lnTo>
                    <a:pt x="2700" y="11813"/>
                  </a:lnTo>
                  <a:lnTo>
                    <a:pt x="2700" y="14175"/>
                  </a:lnTo>
                  <a:lnTo>
                    <a:pt x="1013" y="14175"/>
                  </a:lnTo>
                  <a:cubicBezTo>
                    <a:pt x="451" y="14175"/>
                    <a:pt x="0" y="14626"/>
                    <a:pt x="0" y="15187"/>
                  </a:cubicBezTo>
                  <a:cubicBezTo>
                    <a:pt x="0" y="15749"/>
                    <a:pt x="451" y="16200"/>
                    <a:pt x="1013" y="16200"/>
                  </a:cubicBezTo>
                  <a:lnTo>
                    <a:pt x="2700" y="16200"/>
                  </a:lnTo>
                  <a:cubicBezTo>
                    <a:pt x="2700" y="17689"/>
                    <a:pt x="3911" y="18900"/>
                    <a:pt x="5400" y="18900"/>
                  </a:cubicBezTo>
                  <a:lnTo>
                    <a:pt x="5400" y="20587"/>
                  </a:lnTo>
                  <a:cubicBezTo>
                    <a:pt x="5400" y="21149"/>
                    <a:pt x="5851" y="21600"/>
                    <a:pt x="6413" y="21600"/>
                  </a:cubicBezTo>
                  <a:cubicBezTo>
                    <a:pt x="6974" y="21600"/>
                    <a:pt x="7425" y="21149"/>
                    <a:pt x="7425" y="20587"/>
                  </a:cubicBezTo>
                  <a:lnTo>
                    <a:pt x="7425" y="18900"/>
                  </a:lnTo>
                  <a:lnTo>
                    <a:pt x="9787" y="18900"/>
                  </a:lnTo>
                  <a:lnTo>
                    <a:pt x="9787" y="20587"/>
                  </a:lnTo>
                  <a:cubicBezTo>
                    <a:pt x="9787" y="21149"/>
                    <a:pt x="10239" y="21600"/>
                    <a:pt x="10800" y="21600"/>
                  </a:cubicBezTo>
                  <a:cubicBezTo>
                    <a:pt x="11361" y="21600"/>
                    <a:pt x="11813" y="21149"/>
                    <a:pt x="11813" y="20587"/>
                  </a:cubicBezTo>
                  <a:lnTo>
                    <a:pt x="11813" y="18900"/>
                  </a:lnTo>
                  <a:lnTo>
                    <a:pt x="14175" y="18900"/>
                  </a:lnTo>
                  <a:lnTo>
                    <a:pt x="14175" y="20587"/>
                  </a:lnTo>
                  <a:cubicBezTo>
                    <a:pt x="14175" y="21149"/>
                    <a:pt x="14626" y="21600"/>
                    <a:pt x="15187" y="21600"/>
                  </a:cubicBezTo>
                  <a:cubicBezTo>
                    <a:pt x="15749" y="21600"/>
                    <a:pt x="16200" y="21149"/>
                    <a:pt x="16200" y="20587"/>
                  </a:cubicBezTo>
                  <a:lnTo>
                    <a:pt x="16200" y="18900"/>
                  </a:lnTo>
                  <a:cubicBezTo>
                    <a:pt x="17689" y="18900"/>
                    <a:pt x="18900" y="17689"/>
                    <a:pt x="18900" y="16200"/>
                  </a:cubicBezTo>
                  <a:lnTo>
                    <a:pt x="20587" y="16200"/>
                  </a:lnTo>
                  <a:cubicBezTo>
                    <a:pt x="21149" y="16200"/>
                    <a:pt x="21600" y="15749"/>
                    <a:pt x="21600" y="15187"/>
                  </a:cubicBezTo>
                  <a:cubicBezTo>
                    <a:pt x="21600" y="14626"/>
                    <a:pt x="21149" y="14175"/>
                    <a:pt x="20587" y="14175"/>
                  </a:cubicBezTo>
                  <a:lnTo>
                    <a:pt x="18900" y="14175"/>
                  </a:lnTo>
                  <a:lnTo>
                    <a:pt x="18900" y="11813"/>
                  </a:lnTo>
                  <a:lnTo>
                    <a:pt x="20587" y="11813"/>
                  </a:lnTo>
                  <a:cubicBezTo>
                    <a:pt x="21149" y="11813"/>
                    <a:pt x="21600" y="11361"/>
                    <a:pt x="21600" y="10800"/>
                  </a:cubicBezTo>
                  <a:cubicBezTo>
                    <a:pt x="21600" y="10239"/>
                    <a:pt x="21149" y="9787"/>
                    <a:pt x="20587" y="9787"/>
                  </a:cubicBezTo>
                  <a:lnTo>
                    <a:pt x="18900" y="9787"/>
                  </a:lnTo>
                  <a:lnTo>
                    <a:pt x="18900" y="7425"/>
                  </a:lnTo>
                  <a:lnTo>
                    <a:pt x="20587" y="7425"/>
                  </a:lnTo>
                  <a:cubicBezTo>
                    <a:pt x="21149" y="7425"/>
                    <a:pt x="21600" y="6974"/>
                    <a:pt x="21600" y="6413"/>
                  </a:cubicBezTo>
                  <a:cubicBezTo>
                    <a:pt x="21600" y="5851"/>
                    <a:pt x="21149" y="5400"/>
                    <a:pt x="20587" y="5400"/>
                  </a:cubicBezTo>
                  <a:lnTo>
                    <a:pt x="18900" y="5400"/>
                  </a:lnTo>
                  <a:cubicBezTo>
                    <a:pt x="18900" y="3911"/>
                    <a:pt x="17689" y="2700"/>
                    <a:pt x="16200" y="2700"/>
                  </a:cubicBezTo>
                  <a:lnTo>
                    <a:pt x="16200" y="1013"/>
                  </a:lnTo>
                  <a:cubicBezTo>
                    <a:pt x="16200" y="451"/>
                    <a:pt x="15749" y="0"/>
                    <a:pt x="15187" y="0"/>
                  </a:cubicBezTo>
                  <a:cubicBezTo>
                    <a:pt x="14626" y="0"/>
                    <a:pt x="14175" y="451"/>
                    <a:pt x="14175" y="1013"/>
                  </a:cubicBezTo>
                  <a:lnTo>
                    <a:pt x="14175" y="2700"/>
                  </a:lnTo>
                  <a:lnTo>
                    <a:pt x="11813" y="2700"/>
                  </a:lnTo>
                  <a:lnTo>
                    <a:pt x="11813" y="1013"/>
                  </a:lnTo>
                  <a:cubicBezTo>
                    <a:pt x="11813" y="451"/>
                    <a:pt x="11361" y="0"/>
                    <a:pt x="10800" y="0"/>
                  </a:cubicBezTo>
                  <a:cubicBezTo>
                    <a:pt x="10239" y="0"/>
                    <a:pt x="9787" y="451"/>
                    <a:pt x="9787" y="1013"/>
                  </a:cubicBezTo>
                  <a:lnTo>
                    <a:pt x="9787" y="2700"/>
                  </a:lnTo>
                  <a:lnTo>
                    <a:pt x="7425" y="2700"/>
                  </a:lnTo>
                  <a:lnTo>
                    <a:pt x="7425" y="1013"/>
                  </a:lnTo>
                  <a:close/>
                  <a:moveTo>
                    <a:pt x="6750" y="5400"/>
                  </a:moveTo>
                  <a:lnTo>
                    <a:pt x="14850" y="5400"/>
                  </a:lnTo>
                  <a:cubicBezTo>
                    <a:pt x="15597" y="5400"/>
                    <a:pt x="16200" y="6003"/>
                    <a:pt x="16200" y="6750"/>
                  </a:cubicBezTo>
                  <a:lnTo>
                    <a:pt x="16200" y="14850"/>
                  </a:lnTo>
                  <a:cubicBezTo>
                    <a:pt x="16200" y="15597"/>
                    <a:pt x="15597" y="16200"/>
                    <a:pt x="14850" y="16200"/>
                  </a:cubicBezTo>
                  <a:lnTo>
                    <a:pt x="6750" y="16200"/>
                  </a:lnTo>
                  <a:cubicBezTo>
                    <a:pt x="6003" y="16200"/>
                    <a:pt x="5400" y="15597"/>
                    <a:pt x="5400" y="14850"/>
                  </a:cubicBezTo>
                  <a:lnTo>
                    <a:pt x="5400" y="6750"/>
                  </a:lnTo>
                  <a:cubicBezTo>
                    <a:pt x="5400" y="6003"/>
                    <a:pt x="6003" y="5400"/>
                    <a:pt x="6750" y="5400"/>
                  </a:cubicBezTo>
                  <a:close/>
                  <a:moveTo>
                    <a:pt x="7425" y="7425"/>
                  </a:moveTo>
                  <a:lnTo>
                    <a:pt x="7425" y="14175"/>
                  </a:lnTo>
                  <a:lnTo>
                    <a:pt x="14175" y="14175"/>
                  </a:lnTo>
                  <a:lnTo>
                    <a:pt x="14175" y="7425"/>
                  </a:lnTo>
                  <a:lnTo>
                    <a:pt x="7425" y="7425"/>
                  </a:lnTo>
                  <a:close/>
                </a:path>
              </a:pathLst>
            </a:custGeom>
            <a:solidFill>
              <a:srgbClr val="22C55E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25" name="Shape 25">
              <a:extLst>
                <a:ext uri="{FF2B5EF4-FFF2-40B4-BE49-F238E27FC236}">
                  <a16:creationId xmlns:a16="http://schemas.microsoft.com/office/drawing/2014/main" id="{C7C0A480-4EC3-5E28-3839-A0B849443D1B}"/>
                </a:ext>
              </a:extLst>
            </p:cNvPr>
            <p:cNvSpPr/>
            <p:nvPr/>
          </p:nvSpPr>
          <p:spPr>
            <a:xfrm>
              <a:off x="11319241" y="3261396"/>
              <a:ext cx="190501" cy="190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50" y="0"/>
                  </a:moveTo>
                  <a:lnTo>
                    <a:pt x="9450" y="2700"/>
                  </a:lnTo>
                  <a:cubicBezTo>
                    <a:pt x="9450" y="3071"/>
                    <a:pt x="9754" y="3375"/>
                    <a:pt x="10125" y="3375"/>
                  </a:cubicBezTo>
                  <a:lnTo>
                    <a:pt x="11475" y="3375"/>
                  </a:lnTo>
                  <a:cubicBezTo>
                    <a:pt x="11846" y="3375"/>
                    <a:pt x="12150" y="3071"/>
                    <a:pt x="12150" y="2700"/>
                  </a:cubicBezTo>
                  <a:lnTo>
                    <a:pt x="12150" y="0"/>
                  </a:lnTo>
                  <a:lnTo>
                    <a:pt x="13500" y="0"/>
                  </a:lnTo>
                  <a:cubicBezTo>
                    <a:pt x="14989" y="0"/>
                    <a:pt x="16200" y="1211"/>
                    <a:pt x="16200" y="2700"/>
                  </a:cubicBezTo>
                  <a:lnTo>
                    <a:pt x="16200" y="8100"/>
                  </a:lnTo>
                  <a:cubicBezTo>
                    <a:pt x="16200" y="8332"/>
                    <a:pt x="16171" y="8560"/>
                    <a:pt x="16116" y="8775"/>
                  </a:cubicBezTo>
                  <a:lnTo>
                    <a:pt x="5484" y="8775"/>
                  </a:lnTo>
                  <a:cubicBezTo>
                    <a:pt x="5429" y="8560"/>
                    <a:pt x="5400" y="8332"/>
                    <a:pt x="5400" y="8100"/>
                  </a:cubicBezTo>
                  <a:lnTo>
                    <a:pt x="5400" y="2700"/>
                  </a:lnTo>
                  <a:cubicBezTo>
                    <a:pt x="5400" y="1211"/>
                    <a:pt x="6611" y="0"/>
                    <a:pt x="8100" y="0"/>
                  </a:cubicBezTo>
                  <a:lnTo>
                    <a:pt x="9450" y="0"/>
                  </a:lnTo>
                  <a:close/>
                  <a:moveTo>
                    <a:pt x="13500" y="21600"/>
                  </a:moveTo>
                  <a:cubicBezTo>
                    <a:pt x="13027" y="21600"/>
                    <a:pt x="12580" y="21478"/>
                    <a:pt x="12192" y="21262"/>
                  </a:cubicBezTo>
                  <a:cubicBezTo>
                    <a:pt x="12593" y="20566"/>
                    <a:pt x="12825" y="19761"/>
                    <a:pt x="12825" y="18900"/>
                  </a:cubicBezTo>
                  <a:lnTo>
                    <a:pt x="12825" y="13500"/>
                  </a:lnTo>
                  <a:cubicBezTo>
                    <a:pt x="12825" y="12639"/>
                    <a:pt x="12593" y="11834"/>
                    <a:pt x="12192" y="11138"/>
                  </a:cubicBezTo>
                  <a:cubicBezTo>
                    <a:pt x="12580" y="10922"/>
                    <a:pt x="13023" y="10800"/>
                    <a:pt x="13500" y="10800"/>
                  </a:cubicBezTo>
                  <a:lnTo>
                    <a:pt x="14850" y="10800"/>
                  </a:lnTo>
                  <a:lnTo>
                    <a:pt x="14850" y="13500"/>
                  </a:lnTo>
                  <a:cubicBezTo>
                    <a:pt x="14850" y="13871"/>
                    <a:pt x="15154" y="14175"/>
                    <a:pt x="15525" y="14175"/>
                  </a:cubicBezTo>
                  <a:lnTo>
                    <a:pt x="16875" y="14175"/>
                  </a:lnTo>
                  <a:cubicBezTo>
                    <a:pt x="17246" y="14175"/>
                    <a:pt x="17550" y="13871"/>
                    <a:pt x="17550" y="13500"/>
                  </a:cubicBezTo>
                  <a:lnTo>
                    <a:pt x="17550" y="10800"/>
                  </a:lnTo>
                  <a:lnTo>
                    <a:pt x="18900" y="10800"/>
                  </a:lnTo>
                  <a:cubicBezTo>
                    <a:pt x="20389" y="10800"/>
                    <a:pt x="21600" y="12011"/>
                    <a:pt x="21600" y="13500"/>
                  </a:cubicBezTo>
                  <a:lnTo>
                    <a:pt x="21600" y="18900"/>
                  </a:lnTo>
                  <a:cubicBezTo>
                    <a:pt x="21600" y="20389"/>
                    <a:pt x="20389" y="21600"/>
                    <a:pt x="18900" y="21600"/>
                  </a:cubicBezTo>
                  <a:lnTo>
                    <a:pt x="13500" y="21600"/>
                  </a:lnTo>
                  <a:close/>
                  <a:moveTo>
                    <a:pt x="0" y="13500"/>
                  </a:moveTo>
                  <a:cubicBezTo>
                    <a:pt x="0" y="12011"/>
                    <a:pt x="1211" y="10800"/>
                    <a:pt x="2700" y="10800"/>
                  </a:cubicBezTo>
                  <a:lnTo>
                    <a:pt x="4050" y="10800"/>
                  </a:lnTo>
                  <a:lnTo>
                    <a:pt x="4050" y="13500"/>
                  </a:lnTo>
                  <a:cubicBezTo>
                    <a:pt x="4050" y="13871"/>
                    <a:pt x="4354" y="14175"/>
                    <a:pt x="4725" y="14175"/>
                  </a:cubicBezTo>
                  <a:lnTo>
                    <a:pt x="6075" y="14175"/>
                  </a:lnTo>
                  <a:cubicBezTo>
                    <a:pt x="6446" y="14175"/>
                    <a:pt x="6750" y="13871"/>
                    <a:pt x="6750" y="13500"/>
                  </a:cubicBezTo>
                  <a:lnTo>
                    <a:pt x="6750" y="10800"/>
                  </a:lnTo>
                  <a:lnTo>
                    <a:pt x="8100" y="10800"/>
                  </a:lnTo>
                  <a:cubicBezTo>
                    <a:pt x="9589" y="10800"/>
                    <a:pt x="10800" y="12011"/>
                    <a:pt x="10800" y="13500"/>
                  </a:cubicBezTo>
                  <a:lnTo>
                    <a:pt x="10800" y="18900"/>
                  </a:lnTo>
                  <a:cubicBezTo>
                    <a:pt x="10800" y="20389"/>
                    <a:pt x="9589" y="21600"/>
                    <a:pt x="8100" y="21600"/>
                  </a:cubicBezTo>
                  <a:lnTo>
                    <a:pt x="2700" y="21600"/>
                  </a:lnTo>
                  <a:cubicBezTo>
                    <a:pt x="1211" y="21600"/>
                    <a:pt x="0" y="20389"/>
                    <a:pt x="0" y="18900"/>
                  </a:cubicBezTo>
                  <a:lnTo>
                    <a:pt x="0" y="13500"/>
                  </a:lnTo>
                  <a:close/>
                </a:path>
              </a:pathLst>
            </a:custGeom>
            <a:solidFill>
              <a:srgbClr val="3B82F6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29" name="Shape 29">
              <a:extLst>
                <a:ext uri="{FF2B5EF4-FFF2-40B4-BE49-F238E27FC236}">
                  <a16:creationId xmlns:a16="http://schemas.microsoft.com/office/drawing/2014/main" id="{7415F539-E612-8C4A-51FF-B29E0C3B5624}"/>
                </a:ext>
              </a:extLst>
            </p:cNvPr>
            <p:cNvSpPr/>
            <p:nvPr/>
          </p:nvSpPr>
          <p:spPr>
            <a:xfrm>
              <a:off x="11319254" y="4015458"/>
              <a:ext cx="190488" cy="1905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593" h="19678" extrusionOk="0">
                  <a:moveTo>
                    <a:pt x="17564" y="2871"/>
                  </a:moveTo>
                  <a:lnTo>
                    <a:pt x="18019" y="3282"/>
                  </a:lnTo>
                  <a:lnTo>
                    <a:pt x="18019" y="1230"/>
                  </a:lnTo>
                  <a:cubicBezTo>
                    <a:pt x="18019" y="550"/>
                    <a:pt x="18594" y="0"/>
                    <a:pt x="19306" y="0"/>
                  </a:cubicBezTo>
                  <a:cubicBezTo>
                    <a:pt x="20018" y="0"/>
                    <a:pt x="20593" y="550"/>
                    <a:pt x="20593" y="1230"/>
                  </a:cubicBezTo>
                  <a:lnTo>
                    <a:pt x="20593" y="6149"/>
                  </a:lnTo>
                  <a:cubicBezTo>
                    <a:pt x="20593" y="6830"/>
                    <a:pt x="20018" y="7379"/>
                    <a:pt x="19306" y="7379"/>
                  </a:cubicBezTo>
                  <a:lnTo>
                    <a:pt x="14157" y="7379"/>
                  </a:lnTo>
                  <a:cubicBezTo>
                    <a:pt x="13445" y="7379"/>
                    <a:pt x="12870" y="6830"/>
                    <a:pt x="12870" y="6149"/>
                  </a:cubicBezTo>
                  <a:cubicBezTo>
                    <a:pt x="12870" y="5469"/>
                    <a:pt x="13445" y="4919"/>
                    <a:pt x="14157" y="4919"/>
                  </a:cubicBezTo>
                  <a:lnTo>
                    <a:pt x="16084" y="4919"/>
                  </a:lnTo>
                  <a:lnTo>
                    <a:pt x="15778" y="4643"/>
                  </a:lnTo>
                  <a:cubicBezTo>
                    <a:pt x="15770" y="4635"/>
                    <a:pt x="15762" y="4627"/>
                    <a:pt x="15754" y="4620"/>
                  </a:cubicBezTo>
                  <a:cubicBezTo>
                    <a:pt x="12737" y="1737"/>
                    <a:pt x="7850" y="1737"/>
                    <a:pt x="4833" y="4620"/>
                  </a:cubicBezTo>
                  <a:cubicBezTo>
                    <a:pt x="1817" y="7502"/>
                    <a:pt x="1817" y="12172"/>
                    <a:pt x="4833" y="15055"/>
                  </a:cubicBezTo>
                  <a:cubicBezTo>
                    <a:pt x="7850" y="17937"/>
                    <a:pt x="12737" y="17937"/>
                    <a:pt x="15754" y="15055"/>
                  </a:cubicBezTo>
                  <a:cubicBezTo>
                    <a:pt x="16084" y="14739"/>
                    <a:pt x="16378" y="14405"/>
                    <a:pt x="16635" y="14051"/>
                  </a:cubicBezTo>
                  <a:cubicBezTo>
                    <a:pt x="17041" y="13494"/>
                    <a:pt x="17846" y="13360"/>
                    <a:pt x="18429" y="13748"/>
                  </a:cubicBezTo>
                  <a:cubicBezTo>
                    <a:pt x="19012" y="14136"/>
                    <a:pt x="19153" y="14905"/>
                    <a:pt x="18747" y="15462"/>
                  </a:cubicBezTo>
                  <a:cubicBezTo>
                    <a:pt x="18405" y="15931"/>
                    <a:pt x="18015" y="16377"/>
                    <a:pt x="17576" y="16796"/>
                  </a:cubicBezTo>
                  <a:cubicBezTo>
                    <a:pt x="13554" y="20639"/>
                    <a:pt x="7034" y="20639"/>
                    <a:pt x="3015" y="16796"/>
                  </a:cubicBezTo>
                  <a:cubicBezTo>
                    <a:pt x="-1003" y="12952"/>
                    <a:pt x="-1007" y="6726"/>
                    <a:pt x="3015" y="2882"/>
                  </a:cubicBezTo>
                  <a:cubicBezTo>
                    <a:pt x="7034" y="-957"/>
                    <a:pt x="13542" y="-961"/>
                    <a:pt x="17564" y="2871"/>
                  </a:cubicBezTo>
                  <a:close/>
                </a:path>
              </a:pathLst>
            </a:custGeom>
            <a:solidFill>
              <a:srgbClr val="F59E0B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6" name="Shape 16">
              <a:extLst>
                <a:ext uri="{FF2B5EF4-FFF2-40B4-BE49-F238E27FC236}">
                  <a16:creationId xmlns:a16="http://schemas.microsoft.com/office/drawing/2014/main" id="{783BE704-56E5-0B9C-58DF-A3F8885DFAAA}"/>
                </a:ext>
              </a:extLst>
            </p:cNvPr>
            <p:cNvSpPr/>
            <p:nvPr/>
          </p:nvSpPr>
          <p:spPr>
            <a:xfrm>
              <a:off x="9886833" y="1896020"/>
              <a:ext cx="189919" cy="1905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6" h="21600" extrusionOk="0">
                  <a:moveTo>
                    <a:pt x="6017" y="4"/>
                  </a:moveTo>
                  <a:lnTo>
                    <a:pt x="15429" y="4"/>
                  </a:lnTo>
                  <a:cubicBezTo>
                    <a:pt x="16542" y="4"/>
                    <a:pt x="17450" y="924"/>
                    <a:pt x="17407" y="2037"/>
                  </a:cubicBezTo>
                  <a:cubicBezTo>
                    <a:pt x="17399" y="2261"/>
                    <a:pt x="17391" y="2484"/>
                    <a:pt x="17378" y="2704"/>
                  </a:cubicBezTo>
                  <a:lnTo>
                    <a:pt x="19462" y="2704"/>
                  </a:lnTo>
                  <a:cubicBezTo>
                    <a:pt x="20559" y="2704"/>
                    <a:pt x="21525" y="3615"/>
                    <a:pt x="21441" y="4804"/>
                  </a:cubicBezTo>
                  <a:cubicBezTo>
                    <a:pt x="21126" y="9178"/>
                    <a:pt x="18899" y="11582"/>
                    <a:pt x="16483" y="12839"/>
                  </a:cubicBezTo>
                  <a:cubicBezTo>
                    <a:pt x="15819" y="13185"/>
                    <a:pt x="15143" y="13443"/>
                    <a:pt x="14500" y="13632"/>
                  </a:cubicBezTo>
                  <a:cubicBezTo>
                    <a:pt x="13651" y="14839"/>
                    <a:pt x="12769" y="15476"/>
                    <a:pt x="12067" y="15817"/>
                  </a:cubicBezTo>
                  <a:lnTo>
                    <a:pt x="12067" y="18901"/>
                  </a:lnTo>
                  <a:lnTo>
                    <a:pt x="14756" y="18901"/>
                  </a:lnTo>
                  <a:cubicBezTo>
                    <a:pt x="15500" y="18901"/>
                    <a:pt x="16101" y="19504"/>
                    <a:pt x="16101" y="20250"/>
                  </a:cubicBezTo>
                  <a:cubicBezTo>
                    <a:pt x="16101" y="20997"/>
                    <a:pt x="15500" y="21600"/>
                    <a:pt x="14756" y="21600"/>
                  </a:cubicBezTo>
                  <a:lnTo>
                    <a:pt x="6689" y="21600"/>
                  </a:lnTo>
                  <a:cubicBezTo>
                    <a:pt x="5946" y="21600"/>
                    <a:pt x="5345" y="20997"/>
                    <a:pt x="5345" y="20250"/>
                  </a:cubicBezTo>
                  <a:cubicBezTo>
                    <a:pt x="5345" y="19504"/>
                    <a:pt x="5946" y="18901"/>
                    <a:pt x="6689" y="18901"/>
                  </a:cubicBezTo>
                  <a:lnTo>
                    <a:pt x="9378" y="18901"/>
                  </a:lnTo>
                  <a:lnTo>
                    <a:pt x="9378" y="15817"/>
                  </a:lnTo>
                  <a:cubicBezTo>
                    <a:pt x="8706" y="15492"/>
                    <a:pt x="7870" y="14889"/>
                    <a:pt x="7055" y="13780"/>
                  </a:cubicBezTo>
                  <a:cubicBezTo>
                    <a:pt x="6282" y="13577"/>
                    <a:pt x="5442" y="13270"/>
                    <a:pt x="4622" y="12806"/>
                  </a:cubicBezTo>
                  <a:cubicBezTo>
                    <a:pt x="2349" y="11528"/>
                    <a:pt x="299" y="9119"/>
                    <a:pt x="5" y="4796"/>
                  </a:cubicBezTo>
                  <a:cubicBezTo>
                    <a:pt x="-75" y="3611"/>
                    <a:pt x="887" y="2699"/>
                    <a:pt x="1984" y="2699"/>
                  </a:cubicBezTo>
                  <a:lnTo>
                    <a:pt x="4068" y="2699"/>
                  </a:lnTo>
                  <a:cubicBezTo>
                    <a:pt x="4055" y="2480"/>
                    <a:pt x="4047" y="2261"/>
                    <a:pt x="4038" y="2033"/>
                  </a:cubicBezTo>
                  <a:cubicBezTo>
                    <a:pt x="3996" y="915"/>
                    <a:pt x="4904" y="0"/>
                    <a:pt x="6017" y="0"/>
                  </a:cubicBezTo>
                  <a:close/>
                  <a:moveTo>
                    <a:pt x="4219" y="4728"/>
                  </a:moveTo>
                  <a:lnTo>
                    <a:pt x="2017" y="4728"/>
                  </a:lnTo>
                  <a:cubicBezTo>
                    <a:pt x="2278" y="8301"/>
                    <a:pt x="3912" y="10089"/>
                    <a:pt x="5597" y="11038"/>
                  </a:cubicBezTo>
                  <a:cubicBezTo>
                    <a:pt x="4992" y="9465"/>
                    <a:pt x="4492" y="7411"/>
                    <a:pt x="4219" y="4728"/>
                  </a:cubicBezTo>
                  <a:close/>
                  <a:moveTo>
                    <a:pt x="15920" y="10836"/>
                  </a:moveTo>
                  <a:cubicBezTo>
                    <a:pt x="17622" y="9832"/>
                    <a:pt x="19159" y="8048"/>
                    <a:pt x="19420" y="4728"/>
                  </a:cubicBezTo>
                  <a:lnTo>
                    <a:pt x="17223" y="4728"/>
                  </a:lnTo>
                  <a:cubicBezTo>
                    <a:pt x="16962" y="7297"/>
                    <a:pt x="16492" y="9292"/>
                    <a:pt x="15920" y="10836"/>
                  </a:cubicBezTo>
                  <a:close/>
                </a:path>
              </a:pathLst>
            </a:custGeom>
            <a:solidFill>
              <a:srgbClr val="F59E0B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33" name="Shape 33">
              <a:extLst>
                <a:ext uri="{FF2B5EF4-FFF2-40B4-BE49-F238E27FC236}">
                  <a16:creationId xmlns:a16="http://schemas.microsoft.com/office/drawing/2014/main" id="{9D3A5019-215B-FE05-9F6F-A9EA039FD65F}"/>
                </a:ext>
              </a:extLst>
            </p:cNvPr>
            <p:cNvSpPr/>
            <p:nvPr/>
          </p:nvSpPr>
          <p:spPr>
            <a:xfrm>
              <a:off x="11307334" y="4769521"/>
              <a:ext cx="214314" cy="166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0" y="7897"/>
                  </a:moveTo>
                  <a:lnTo>
                    <a:pt x="9645" y="12049"/>
                  </a:lnTo>
                  <a:cubicBezTo>
                    <a:pt x="10012" y="12242"/>
                    <a:pt x="10402" y="12343"/>
                    <a:pt x="10800" y="12343"/>
                  </a:cubicBezTo>
                  <a:cubicBezTo>
                    <a:pt x="11197" y="12343"/>
                    <a:pt x="11588" y="12242"/>
                    <a:pt x="11955" y="12049"/>
                  </a:cubicBezTo>
                  <a:lnTo>
                    <a:pt x="21045" y="7237"/>
                  </a:lnTo>
                  <a:cubicBezTo>
                    <a:pt x="21382" y="7059"/>
                    <a:pt x="21600" y="6639"/>
                    <a:pt x="21600" y="6171"/>
                  </a:cubicBezTo>
                  <a:cubicBezTo>
                    <a:pt x="21600" y="5704"/>
                    <a:pt x="21382" y="5284"/>
                    <a:pt x="21045" y="5106"/>
                  </a:cubicBezTo>
                  <a:lnTo>
                    <a:pt x="11955" y="294"/>
                  </a:lnTo>
                  <a:cubicBezTo>
                    <a:pt x="11588" y="101"/>
                    <a:pt x="11197" y="0"/>
                    <a:pt x="10800" y="0"/>
                  </a:cubicBezTo>
                  <a:cubicBezTo>
                    <a:pt x="10402" y="0"/>
                    <a:pt x="10012" y="101"/>
                    <a:pt x="9645" y="294"/>
                  </a:cubicBezTo>
                  <a:lnTo>
                    <a:pt x="555" y="5106"/>
                  </a:lnTo>
                  <a:cubicBezTo>
                    <a:pt x="217" y="5284"/>
                    <a:pt x="0" y="5704"/>
                    <a:pt x="0" y="6171"/>
                  </a:cubicBezTo>
                  <a:lnTo>
                    <a:pt x="0" y="20443"/>
                  </a:lnTo>
                  <a:cubicBezTo>
                    <a:pt x="0" y="21084"/>
                    <a:pt x="401" y="21600"/>
                    <a:pt x="900" y="21600"/>
                  </a:cubicBezTo>
                  <a:cubicBezTo>
                    <a:pt x="1399" y="21600"/>
                    <a:pt x="1800" y="21084"/>
                    <a:pt x="1800" y="20443"/>
                  </a:cubicBezTo>
                  <a:lnTo>
                    <a:pt x="1800" y="7897"/>
                  </a:lnTo>
                  <a:close/>
                  <a:moveTo>
                    <a:pt x="3600" y="11354"/>
                  </a:moveTo>
                  <a:lnTo>
                    <a:pt x="3600" y="16971"/>
                  </a:lnTo>
                  <a:cubicBezTo>
                    <a:pt x="3600" y="19527"/>
                    <a:pt x="6825" y="21600"/>
                    <a:pt x="10800" y="21600"/>
                  </a:cubicBezTo>
                  <a:cubicBezTo>
                    <a:pt x="14775" y="21600"/>
                    <a:pt x="18000" y="19527"/>
                    <a:pt x="18000" y="16971"/>
                  </a:cubicBezTo>
                  <a:lnTo>
                    <a:pt x="18000" y="11350"/>
                  </a:lnTo>
                  <a:lnTo>
                    <a:pt x="12641" y="14190"/>
                  </a:lnTo>
                  <a:cubicBezTo>
                    <a:pt x="12056" y="14498"/>
                    <a:pt x="11434" y="14657"/>
                    <a:pt x="10800" y="14657"/>
                  </a:cubicBezTo>
                  <a:cubicBezTo>
                    <a:pt x="10166" y="14657"/>
                    <a:pt x="9544" y="14498"/>
                    <a:pt x="8959" y="14190"/>
                  </a:cubicBezTo>
                  <a:lnTo>
                    <a:pt x="3600" y="11350"/>
                  </a:lnTo>
                  <a:close/>
                </a:path>
              </a:pathLst>
            </a:custGeom>
            <a:solidFill>
              <a:srgbClr val="8B5CF6"/>
            </a:solidFill>
            <a:ln w="12700">
              <a:miter lim="400000"/>
            </a:ln>
          </p:spPr>
          <p:txBody>
            <a:bodyPr lIns="45719" rIns="45719"/>
            <a:lstStyle/>
            <a:p>
              <a:endParaRPr/>
            </a:p>
          </p:txBody>
        </p:sp>
      </p:grpSp>
      <p:pic>
        <p:nvPicPr>
          <p:cNvPr id="41" name="Content Placeholder 40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9B0D1CD4-13C6-3D71-4B3F-4E6A3B0CC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8671" y="1517015"/>
            <a:ext cx="7280296" cy="4594578"/>
          </a:xfrm>
        </p:spPr>
      </p:pic>
    </p:spTree>
    <p:extLst>
      <p:ext uri="{BB962C8B-B14F-4D97-AF65-F5344CB8AC3E}">
        <p14:creationId xmlns:p14="http://schemas.microsoft.com/office/powerpoint/2010/main" val="1515785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272A-0442-3EF3-F0EB-6A8A0964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ABE4E-87C0-8238-B816-A030384F7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4600" b="1"/>
              <a:t>Advanced Model – Training process</a:t>
            </a:r>
            <a:endParaRPr lang="en-DE" sz="460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98331EB-0766-51BE-6158-1A2214196B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84698" y="820839"/>
            <a:ext cx="6150102" cy="505186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3705D-21DF-BB03-7179-CCB62AA950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4545D-3A56-00E7-0B06-622C31B6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40901-9AA5-F3A2-71A8-FFE9F5C3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DA51EC-F083-EC45-A9D3-7A3196159AB2}" type="slidenum">
              <a:rPr lang="en-DE" smtClean="0"/>
              <a:pPr>
                <a:spcAft>
                  <a:spcPts val="600"/>
                </a:spcAft>
              </a:pPr>
              <a:t>9</a:t>
            </a:fld>
            <a:endParaRPr lang="en-D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32ACA1-EB01-53C7-DC82-61A3A3781348}"/>
              </a:ext>
            </a:extLst>
          </p:cNvPr>
          <p:cNvGrpSpPr/>
          <p:nvPr/>
        </p:nvGrpSpPr>
        <p:grpSpPr>
          <a:xfrm>
            <a:off x="533020" y="3243630"/>
            <a:ext cx="5523100" cy="2640705"/>
            <a:chOff x="6202300" y="930960"/>
            <a:chExt cx="5523100" cy="2640705"/>
          </a:xfrm>
        </p:grpSpPr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2149F1E8-BE1E-525D-998F-3AC7076B601D}"/>
                </a:ext>
              </a:extLst>
            </p:cNvPr>
            <p:cNvSpPr/>
            <p:nvPr/>
          </p:nvSpPr>
          <p:spPr>
            <a:xfrm>
              <a:off x="6202300" y="930960"/>
              <a:ext cx="4770500" cy="2640705"/>
            </a:xfrm>
            <a:custGeom>
              <a:avLst/>
              <a:gdLst/>
              <a:ahLst/>
              <a:cxnLst/>
              <a:rect l="l" t="t" r="r" b="b"/>
              <a:pathLst>
                <a:path w="5630520" h="2640705">
                  <a:moveTo>
                    <a:pt x="107424" y="0"/>
                  </a:moveTo>
                  <a:lnTo>
                    <a:pt x="5523096" y="0"/>
                  </a:lnTo>
                  <a:cubicBezTo>
                    <a:pt x="5582425" y="0"/>
                    <a:pt x="5630520" y="48095"/>
                    <a:pt x="5630520" y="107424"/>
                  </a:cubicBezTo>
                  <a:lnTo>
                    <a:pt x="5630520" y="2533281"/>
                  </a:lnTo>
                  <a:cubicBezTo>
                    <a:pt x="5630520" y="2592610"/>
                    <a:pt x="5582425" y="2640705"/>
                    <a:pt x="5523096" y="2640705"/>
                  </a:cubicBezTo>
                  <a:lnTo>
                    <a:pt x="107424" y="2640705"/>
                  </a:lnTo>
                  <a:cubicBezTo>
                    <a:pt x="48095" y="2640705"/>
                    <a:pt x="0" y="2592610"/>
                    <a:pt x="0" y="2533281"/>
                  </a:cubicBezTo>
                  <a:lnTo>
                    <a:pt x="0" y="107424"/>
                  </a:lnTo>
                  <a:cubicBezTo>
                    <a:pt x="0" y="48135"/>
                    <a:pt x="48135" y="0"/>
                    <a:pt x="10742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E293B"/>
                </a:gs>
                <a:gs pos="100000">
                  <a:srgbClr val="334155"/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A3DD000B-0490-FD83-8FE3-A87987BB7145}"/>
                </a:ext>
              </a:extLst>
            </p:cNvPr>
            <p:cNvSpPr/>
            <p:nvPr/>
          </p:nvSpPr>
          <p:spPr>
            <a:xfrm>
              <a:off x="6443991" y="1172652"/>
              <a:ext cx="214837" cy="214837"/>
            </a:xfrm>
            <a:custGeom>
              <a:avLst/>
              <a:gdLst/>
              <a:ahLst/>
              <a:cxnLst/>
              <a:rect l="l" t="t" r="r" b="b"/>
              <a:pathLst>
                <a:path w="214837" h="214837">
                  <a:moveTo>
                    <a:pt x="81865" y="3986"/>
                  </a:moveTo>
                  <a:cubicBezTo>
                    <a:pt x="83123" y="-2224"/>
                    <a:pt x="88620" y="-6714"/>
                    <a:pt x="94998" y="-6714"/>
                  </a:cubicBezTo>
                  <a:lnTo>
                    <a:pt x="120091" y="-6714"/>
                  </a:lnTo>
                  <a:cubicBezTo>
                    <a:pt x="126469" y="-6714"/>
                    <a:pt x="131965" y="-2224"/>
                    <a:pt x="133224" y="3986"/>
                  </a:cubicBezTo>
                  <a:lnTo>
                    <a:pt x="139308" y="33358"/>
                  </a:lnTo>
                  <a:cubicBezTo>
                    <a:pt x="145225" y="35876"/>
                    <a:pt x="150764" y="39107"/>
                    <a:pt x="155799" y="42925"/>
                  </a:cubicBezTo>
                  <a:lnTo>
                    <a:pt x="184248" y="33484"/>
                  </a:lnTo>
                  <a:cubicBezTo>
                    <a:pt x="190290" y="31470"/>
                    <a:pt x="196920" y="33988"/>
                    <a:pt x="200109" y="39527"/>
                  </a:cubicBezTo>
                  <a:lnTo>
                    <a:pt x="212655" y="61262"/>
                  </a:lnTo>
                  <a:cubicBezTo>
                    <a:pt x="215844" y="66801"/>
                    <a:pt x="214711" y="73766"/>
                    <a:pt x="209928" y="78004"/>
                  </a:cubicBezTo>
                  <a:lnTo>
                    <a:pt x="187563" y="97894"/>
                  </a:lnTo>
                  <a:cubicBezTo>
                    <a:pt x="187940" y="100999"/>
                    <a:pt x="188108" y="104188"/>
                    <a:pt x="188108" y="107419"/>
                  </a:cubicBezTo>
                  <a:cubicBezTo>
                    <a:pt x="188108" y="110649"/>
                    <a:pt x="187898" y="113838"/>
                    <a:pt x="187563" y="116944"/>
                  </a:cubicBezTo>
                  <a:lnTo>
                    <a:pt x="209970" y="136875"/>
                  </a:lnTo>
                  <a:cubicBezTo>
                    <a:pt x="214753" y="141113"/>
                    <a:pt x="215844" y="148120"/>
                    <a:pt x="212697" y="153617"/>
                  </a:cubicBezTo>
                  <a:lnTo>
                    <a:pt x="200151" y="175352"/>
                  </a:lnTo>
                  <a:cubicBezTo>
                    <a:pt x="196962" y="180849"/>
                    <a:pt x="190332" y="183409"/>
                    <a:pt x="184290" y="181395"/>
                  </a:cubicBezTo>
                  <a:lnTo>
                    <a:pt x="155841" y="171954"/>
                  </a:lnTo>
                  <a:cubicBezTo>
                    <a:pt x="150764" y="175772"/>
                    <a:pt x="145225" y="178961"/>
                    <a:pt x="139350" y="181520"/>
                  </a:cubicBezTo>
                  <a:lnTo>
                    <a:pt x="133308" y="210851"/>
                  </a:lnTo>
                  <a:cubicBezTo>
                    <a:pt x="132007" y="217103"/>
                    <a:pt x="126510" y="221551"/>
                    <a:pt x="120174" y="221551"/>
                  </a:cubicBezTo>
                  <a:lnTo>
                    <a:pt x="95082" y="221551"/>
                  </a:lnTo>
                  <a:cubicBezTo>
                    <a:pt x="88704" y="221551"/>
                    <a:pt x="83207" y="217061"/>
                    <a:pt x="81949" y="210851"/>
                  </a:cubicBezTo>
                  <a:lnTo>
                    <a:pt x="75906" y="181520"/>
                  </a:lnTo>
                  <a:cubicBezTo>
                    <a:pt x="69990" y="179003"/>
                    <a:pt x="64493" y="175772"/>
                    <a:pt x="59416" y="171954"/>
                  </a:cubicBezTo>
                  <a:lnTo>
                    <a:pt x="30841" y="181395"/>
                  </a:lnTo>
                  <a:cubicBezTo>
                    <a:pt x="24799" y="183409"/>
                    <a:pt x="18169" y="180891"/>
                    <a:pt x="14980" y="175352"/>
                  </a:cubicBezTo>
                  <a:lnTo>
                    <a:pt x="2434" y="153617"/>
                  </a:lnTo>
                  <a:cubicBezTo>
                    <a:pt x="-755" y="148078"/>
                    <a:pt x="378" y="141113"/>
                    <a:pt x="5161" y="136875"/>
                  </a:cubicBezTo>
                  <a:lnTo>
                    <a:pt x="27568" y="116944"/>
                  </a:lnTo>
                  <a:cubicBezTo>
                    <a:pt x="27190" y="113838"/>
                    <a:pt x="27022" y="110649"/>
                    <a:pt x="27022" y="107419"/>
                  </a:cubicBezTo>
                  <a:cubicBezTo>
                    <a:pt x="27022" y="104188"/>
                    <a:pt x="27232" y="100999"/>
                    <a:pt x="27568" y="97894"/>
                  </a:cubicBezTo>
                  <a:lnTo>
                    <a:pt x="5161" y="77962"/>
                  </a:lnTo>
                  <a:cubicBezTo>
                    <a:pt x="378" y="73724"/>
                    <a:pt x="-713" y="66717"/>
                    <a:pt x="2434" y="61220"/>
                  </a:cubicBezTo>
                  <a:lnTo>
                    <a:pt x="14980" y="39485"/>
                  </a:lnTo>
                  <a:cubicBezTo>
                    <a:pt x="18169" y="33946"/>
                    <a:pt x="24799" y="31428"/>
                    <a:pt x="30841" y="33442"/>
                  </a:cubicBezTo>
                  <a:lnTo>
                    <a:pt x="59290" y="42883"/>
                  </a:lnTo>
                  <a:cubicBezTo>
                    <a:pt x="64367" y="39065"/>
                    <a:pt x="69906" y="35876"/>
                    <a:pt x="75780" y="33317"/>
                  </a:cubicBezTo>
                  <a:lnTo>
                    <a:pt x="81865" y="3986"/>
                  </a:lnTo>
                  <a:close/>
                  <a:moveTo>
                    <a:pt x="107544" y="140987"/>
                  </a:moveTo>
                  <a:cubicBezTo>
                    <a:pt x="119537" y="140942"/>
                    <a:pt x="130595" y="134502"/>
                    <a:pt x="136552" y="124094"/>
                  </a:cubicBezTo>
                  <a:cubicBezTo>
                    <a:pt x="142510" y="113685"/>
                    <a:pt x="142462" y="100889"/>
                    <a:pt x="136427" y="90525"/>
                  </a:cubicBezTo>
                  <a:cubicBezTo>
                    <a:pt x="130391" y="80162"/>
                    <a:pt x="119285" y="73805"/>
                    <a:pt x="107293" y="73850"/>
                  </a:cubicBezTo>
                  <a:cubicBezTo>
                    <a:pt x="95300" y="73895"/>
                    <a:pt x="84242" y="80335"/>
                    <a:pt x="78285" y="90743"/>
                  </a:cubicBezTo>
                  <a:cubicBezTo>
                    <a:pt x="72327" y="101152"/>
                    <a:pt x="72375" y="113948"/>
                    <a:pt x="78410" y="124312"/>
                  </a:cubicBezTo>
                  <a:cubicBezTo>
                    <a:pt x="84446" y="134675"/>
                    <a:pt x="95552" y="141032"/>
                    <a:pt x="107544" y="140987"/>
                  </a:cubicBezTo>
                  <a:close/>
                </a:path>
              </a:pathLst>
            </a:custGeom>
            <a:solidFill>
              <a:srgbClr val="F59E0B"/>
            </a:soli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58D2A468-7326-F9E8-CDE5-D4BD6B9A5487}"/>
                </a:ext>
              </a:extLst>
            </p:cNvPr>
            <p:cNvSpPr/>
            <p:nvPr/>
          </p:nvSpPr>
          <p:spPr>
            <a:xfrm>
              <a:off x="6736158" y="1145797"/>
              <a:ext cx="4989242" cy="277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692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Training Configuration</a:t>
              </a:r>
              <a:endParaRPr lang="en-US" sz="1600" dirty="0"/>
            </a:p>
          </p:txBody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1BAC13B3-8390-9234-7664-C2585D9A8080}"/>
                </a:ext>
              </a:extLst>
            </p:cNvPr>
            <p:cNvSpPr/>
            <p:nvPr/>
          </p:nvSpPr>
          <p:spPr>
            <a:xfrm>
              <a:off x="6417137" y="1566520"/>
              <a:ext cx="1983913" cy="823542"/>
            </a:xfrm>
            <a:custGeom>
              <a:avLst/>
              <a:gdLst/>
              <a:ahLst/>
              <a:cxnLst/>
              <a:rect l="l" t="t" r="r" b="b"/>
              <a:pathLst>
                <a:path w="2524335" h="823542">
                  <a:moveTo>
                    <a:pt x="71615" y="0"/>
                  </a:moveTo>
                  <a:lnTo>
                    <a:pt x="2452720" y="0"/>
                  </a:lnTo>
                  <a:cubicBezTo>
                    <a:pt x="2492272" y="0"/>
                    <a:pt x="2524335" y="32063"/>
                    <a:pt x="2524335" y="71615"/>
                  </a:cubicBezTo>
                  <a:lnTo>
                    <a:pt x="2524335" y="751927"/>
                  </a:lnTo>
                  <a:cubicBezTo>
                    <a:pt x="2524335" y="791479"/>
                    <a:pt x="2492272" y="823542"/>
                    <a:pt x="2452720" y="823542"/>
                  </a:cubicBezTo>
                  <a:lnTo>
                    <a:pt x="71615" y="823542"/>
                  </a:lnTo>
                  <a:cubicBezTo>
                    <a:pt x="32063" y="823542"/>
                    <a:pt x="0" y="791479"/>
                    <a:pt x="0" y="751927"/>
                  </a:cubicBezTo>
                  <a:lnTo>
                    <a:pt x="0" y="71615"/>
                  </a:lnTo>
                  <a:cubicBezTo>
                    <a:pt x="0" y="32090"/>
                    <a:pt x="32090" y="0"/>
                    <a:pt x="7161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4169342D-282E-FDFA-993A-D8E0C1B9865D}"/>
                </a:ext>
              </a:extLst>
            </p:cNvPr>
            <p:cNvSpPr/>
            <p:nvPr/>
          </p:nvSpPr>
          <p:spPr>
            <a:xfrm>
              <a:off x="6560361" y="1709744"/>
              <a:ext cx="2300546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FFFFFF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Epochs</a:t>
              </a:r>
              <a:endParaRPr lang="en-US" sz="1600" dirty="0"/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D5CC6306-0F9D-7C53-AEB8-00C99DABD6C6}"/>
                </a:ext>
              </a:extLst>
            </p:cNvPr>
            <p:cNvSpPr/>
            <p:nvPr/>
          </p:nvSpPr>
          <p:spPr>
            <a:xfrm>
              <a:off x="6560361" y="1924581"/>
              <a:ext cx="2372159" cy="322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115" b="1" dirty="0">
                  <a:solidFill>
                    <a:srgbClr val="22C55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60</a:t>
              </a:r>
              <a:endParaRPr lang="en-US" sz="1600" dirty="0"/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A2547065-DE8E-99C4-7E98-8E169BA28E25}"/>
                </a:ext>
              </a:extLst>
            </p:cNvPr>
            <p:cNvSpPr/>
            <p:nvPr/>
          </p:nvSpPr>
          <p:spPr>
            <a:xfrm>
              <a:off x="8551403" y="1566520"/>
              <a:ext cx="2227088" cy="823542"/>
            </a:xfrm>
            <a:custGeom>
              <a:avLst/>
              <a:gdLst/>
              <a:ahLst/>
              <a:cxnLst/>
              <a:rect l="l" t="t" r="r" b="b"/>
              <a:pathLst>
                <a:path w="2524335" h="823542">
                  <a:moveTo>
                    <a:pt x="71615" y="0"/>
                  </a:moveTo>
                  <a:lnTo>
                    <a:pt x="2452720" y="0"/>
                  </a:lnTo>
                  <a:cubicBezTo>
                    <a:pt x="2492272" y="0"/>
                    <a:pt x="2524335" y="32063"/>
                    <a:pt x="2524335" y="71615"/>
                  </a:cubicBezTo>
                  <a:lnTo>
                    <a:pt x="2524335" y="751927"/>
                  </a:lnTo>
                  <a:cubicBezTo>
                    <a:pt x="2524335" y="791479"/>
                    <a:pt x="2492272" y="823542"/>
                    <a:pt x="2452720" y="823542"/>
                  </a:cubicBezTo>
                  <a:lnTo>
                    <a:pt x="71615" y="823542"/>
                  </a:lnTo>
                  <a:cubicBezTo>
                    <a:pt x="32063" y="823542"/>
                    <a:pt x="0" y="791479"/>
                    <a:pt x="0" y="751927"/>
                  </a:cubicBezTo>
                  <a:lnTo>
                    <a:pt x="0" y="71615"/>
                  </a:lnTo>
                  <a:cubicBezTo>
                    <a:pt x="0" y="32090"/>
                    <a:pt x="32090" y="0"/>
                    <a:pt x="7161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031831CA-E93C-8CCD-51F4-AAE5BF0FACB1}"/>
                </a:ext>
              </a:extLst>
            </p:cNvPr>
            <p:cNvSpPr/>
            <p:nvPr/>
          </p:nvSpPr>
          <p:spPr>
            <a:xfrm>
              <a:off x="8694627" y="1709744"/>
              <a:ext cx="2300546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FFFFFF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Batch Size</a:t>
              </a:r>
              <a:endParaRPr lang="en-US" sz="1600" dirty="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D6D33AFE-2842-DFDB-4D58-2E13C036C4E3}"/>
                </a:ext>
              </a:extLst>
            </p:cNvPr>
            <p:cNvSpPr/>
            <p:nvPr/>
          </p:nvSpPr>
          <p:spPr>
            <a:xfrm>
              <a:off x="8706057" y="1924581"/>
              <a:ext cx="2372159" cy="322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115" b="1" dirty="0">
                  <a:solidFill>
                    <a:srgbClr val="3B82F6"/>
                  </a:solidFill>
                  <a:latin typeface="MiSans" pitchFamily="34" charset="0"/>
                  <a:ea typeface="MiSans" pitchFamily="34" charset="-122"/>
                </a:rPr>
                <a:t>16</a:t>
              </a:r>
              <a:endParaRPr lang="en-US" sz="1600" dirty="0"/>
            </a:p>
          </p:txBody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20B8963C-461A-1CDF-5D51-E6DAB4B518A4}"/>
                </a:ext>
              </a:extLst>
            </p:cNvPr>
            <p:cNvSpPr/>
            <p:nvPr/>
          </p:nvSpPr>
          <p:spPr>
            <a:xfrm>
              <a:off x="6417137" y="2533286"/>
              <a:ext cx="1972483" cy="823542"/>
            </a:xfrm>
            <a:custGeom>
              <a:avLst/>
              <a:gdLst/>
              <a:ahLst/>
              <a:cxnLst/>
              <a:rect l="l" t="t" r="r" b="b"/>
              <a:pathLst>
                <a:path w="2524335" h="823542">
                  <a:moveTo>
                    <a:pt x="71615" y="0"/>
                  </a:moveTo>
                  <a:lnTo>
                    <a:pt x="2452720" y="0"/>
                  </a:lnTo>
                  <a:cubicBezTo>
                    <a:pt x="2492272" y="0"/>
                    <a:pt x="2524335" y="32063"/>
                    <a:pt x="2524335" y="71615"/>
                  </a:cubicBezTo>
                  <a:lnTo>
                    <a:pt x="2524335" y="751927"/>
                  </a:lnTo>
                  <a:cubicBezTo>
                    <a:pt x="2524335" y="791479"/>
                    <a:pt x="2492272" y="823542"/>
                    <a:pt x="2452720" y="823542"/>
                  </a:cubicBezTo>
                  <a:lnTo>
                    <a:pt x="71615" y="823542"/>
                  </a:lnTo>
                  <a:cubicBezTo>
                    <a:pt x="32063" y="823542"/>
                    <a:pt x="0" y="791479"/>
                    <a:pt x="0" y="751927"/>
                  </a:cubicBezTo>
                  <a:lnTo>
                    <a:pt x="0" y="71615"/>
                  </a:lnTo>
                  <a:cubicBezTo>
                    <a:pt x="0" y="32090"/>
                    <a:pt x="32090" y="0"/>
                    <a:pt x="7161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C335E108-5231-8ACB-D84F-460BA5680342}"/>
                </a:ext>
              </a:extLst>
            </p:cNvPr>
            <p:cNvSpPr/>
            <p:nvPr/>
          </p:nvSpPr>
          <p:spPr>
            <a:xfrm>
              <a:off x="6560361" y="2676511"/>
              <a:ext cx="2300546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FFFFFF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Validation Split</a:t>
              </a:r>
              <a:endParaRPr lang="en-US" sz="1600" dirty="0"/>
            </a:p>
          </p:txBody>
        </p:sp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32813F83-45E2-F10A-C11B-62BDE012FF3D}"/>
                </a:ext>
              </a:extLst>
            </p:cNvPr>
            <p:cNvSpPr/>
            <p:nvPr/>
          </p:nvSpPr>
          <p:spPr>
            <a:xfrm>
              <a:off x="6560361" y="2891348"/>
              <a:ext cx="2372159" cy="322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115" b="1" dirty="0">
                  <a:solidFill>
                    <a:srgbClr val="F59E0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15%</a:t>
              </a:r>
              <a:endParaRPr lang="en-US" sz="1600" dirty="0"/>
            </a:p>
          </p:txBody>
        </p:sp>
        <p:sp>
          <p:nvSpPr>
            <p:cNvPr id="26" name="Shape 17">
              <a:extLst>
                <a:ext uri="{FF2B5EF4-FFF2-40B4-BE49-F238E27FC236}">
                  <a16:creationId xmlns:a16="http://schemas.microsoft.com/office/drawing/2014/main" id="{A117B1EC-2E99-EF62-FE01-FE018B768653}"/>
                </a:ext>
              </a:extLst>
            </p:cNvPr>
            <p:cNvSpPr/>
            <p:nvPr/>
          </p:nvSpPr>
          <p:spPr>
            <a:xfrm>
              <a:off x="8551403" y="2533286"/>
              <a:ext cx="2204228" cy="823542"/>
            </a:xfrm>
            <a:custGeom>
              <a:avLst/>
              <a:gdLst/>
              <a:ahLst/>
              <a:cxnLst/>
              <a:rect l="l" t="t" r="r" b="b"/>
              <a:pathLst>
                <a:path w="2524335" h="823542">
                  <a:moveTo>
                    <a:pt x="71615" y="0"/>
                  </a:moveTo>
                  <a:lnTo>
                    <a:pt x="2452720" y="0"/>
                  </a:lnTo>
                  <a:cubicBezTo>
                    <a:pt x="2492272" y="0"/>
                    <a:pt x="2524335" y="32063"/>
                    <a:pt x="2524335" y="71615"/>
                  </a:cubicBezTo>
                  <a:lnTo>
                    <a:pt x="2524335" y="751927"/>
                  </a:lnTo>
                  <a:cubicBezTo>
                    <a:pt x="2524335" y="791479"/>
                    <a:pt x="2492272" y="823542"/>
                    <a:pt x="2452720" y="823542"/>
                  </a:cubicBezTo>
                  <a:lnTo>
                    <a:pt x="71615" y="823542"/>
                  </a:lnTo>
                  <a:cubicBezTo>
                    <a:pt x="32063" y="823542"/>
                    <a:pt x="0" y="791479"/>
                    <a:pt x="0" y="751927"/>
                  </a:cubicBezTo>
                  <a:lnTo>
                    <a:pt x="0" y="71615"/>
                  </a:lnTo>
                  <a:cubicBezTo>
                    <a:pt x="0" y="32090"/>
                    <a:pt x="32090" y="0"/>
                    <a:pt x="7161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F70A1068-8B52-92BA-C4E4-10C6CE40805B}"/>
                </a:ext>
              </a:extLst>
            </p:cNvPr>
            <p:cNvSpPr/>
            <p:nvPr/>
          </p:nvSpPr>
          <p:spPr>
            <a:xfrm>
              <a:off x="8694627" y="2676511"/>
              <a:ext cx="2300546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FFFFFF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Optimizer</a:t>
              </a:r>
              <a:endParaRPr lang="en-US" sz="1600" dirty="0"/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A5A579B7-6BED-A81C-5FC4-498ED9C42B19}"/>
                </a:ext>
              </a:extLst>
            </p:cNvPr>
            <p:cNvSpPr/>
            <p:nvPr/>
          </p:nvSpPr>
          <p:spPr>
            <a:xfrm>
              <a:off x="8694627" y="2891348"/>
              <a:ext cx="2327401" cy="250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10" b="1" dirty="0">
                  <a:solidFill>
                    <a:srgbClr val="8B5CF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Adam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538097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1884-160B-4257-22D2-5C83C1A4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7D70E5C-C362-2F37-A053-183163EC1877}"/>
              </a:ext>
            </a:extLst>
          </p:cNvPr>
          <p:cNvGrpSpPr/>
          <p:nvPr/>
        </p:nvGrpSpPr>
        <p:grpSpPr>
          <a:xfrm>
            <a:off x="4552950" y="720144"/>
            <a:ext cx="7118350" cy="5413956"/>
            <a:chOff x="4552950" y="720144"/>
            <a:chExt cx="7118350" cy="5413956"/>
          </a:xfrm>
        </p:grpSpPr>
        <p:pic>
          <p:nvPicPr>
            <p:cNvPr id="11" name="Picture 10" descr="A graph with blue dots&#10;&#10;AI-generated content may be incorrect.">
              <a:extLst>
                <a:ext uri="{FF2B5EF4-FFF2-40B4-BE49-F238E27FC236}">
                  <a16:creationId xmlns:a16="http://schemas.microsoft.com/office/drawing/2014/main" id="{4CD4266E-C776-0F9E-58C4-96F00037D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720144"/>
              <a:ext cx="7118350" cy="541395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D21081-7152-2EEF-38AD-EA42EF781938}"/>
                </a:ext>
              </a:extLst>
            </p:cNvPr>
            <p:cNvSpPr txBox="1"/>
            <p:nvPr/>
          </p:nvSpPr>
          <p:spPr>
            <a:xfrm>
              <a:off x="5238750" y="1162050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Elmshorn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EA0125-2BE3-33EA-46CD-2CB1E489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3800" b="1"/>
              <a:t>Advanced Model Performance</a:t>
            </a:r>
            <a:endParaRPr lang="en-DE" sz="3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1195-9D14-BCC8-4918-60F62CDC2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de-DE" sz="2200" dirty="0"/>
              <a:t>Run Time &lt; 20s</a:t>
            </a:r>
          </a:p>
          <a:p>
            <a:r>
              <a:rPr lang="en-US" sz="2200" noProof="0" dirty="0"/>
              <a:t>Accuracy</a:t>
            </a:r>
            <a:r>
              <a:rPr lang="de-DE" sz="2200" dirty="0"/>
              <a:t> </a:t>
            </a:r>
            <a:r>
              <a:rPr lang="en-DE" sz="2200" dirty="0"/>
              <a:t>~ 85-88 %</a:t>
            </a:r>
          </a:p>
          <a:p>
            <a:r>
              <a:rPr lang="en-DE" sz="2200" dirty="0"/>
              <a:t>Non-linear behaviour</a:t>
            </a:r>
            <a:br>
              <a:rPr lang="en-DE" sz="2200" dirty="0"/>
            </a:br>
            <a:r>
              <a:rPr lang="en-DE" sz="2200" dirty="0">
                <a:sym typeface="Wingdings" pitchFamily="2" charset="2"/>
              </a:rPr>
              <a:t> bias</a:t>
            </a:r>
            <a:endParaRPr lang="en-DE" sz="2200" dirty="0"/>
          </a:p>
          <a:p>
            <a:r>
              <a:rPr lang="en-DE" sz="2200" dirty="0"/>
              <a:t>The models avoid predicting large value (&gt;0.8)</a:t>
            </a:r>
          </a:p>
          <a:p>
            <a:endParaRPr lang="en-DE" sz="2200" dirty="0"/>
          </a:p>
          <a:p>
            <a:endParaRPr lang="en-DE" sz="2200" dirty="0"/>
          </a:p>
          <a:p>
            <a:pPr>
              <a:buFontTx/>
              <a:buChar char="-"/>
            </a:pPr>
            <a:endParaRPr lang="en-DE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EB322-2207-F12F-C147-56571202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3B374-14F2-C690-1966-F386106C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3C270-1817-075E-A717-24297E0AE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DA51EC-F083-EC45-A9D3-7A3196159AB2}" type="slidenum">
              <a:rPr lang="en-DE" smtClean="0"/>
              <a:pPr>
                <a:spcAft>
                  <a:spcPts val="600"/>
                </a:spcAft>
              </a:pPr>
              <a:t>10</a:t>
            </a:fld>
            <a:endParaRPr lang="en-DE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F36925-0FA8-D24D-104D-57EC2FFE1938}"/>
              </a:ext>
            </a:extLst>
          </p:cNvPr>
          <p:cNvGrpSpPr/>
          <p:nvPr/>
        </p:nvGrpSpPr>
        <p:grpSpPr>
          <a:xfrm>
            <a:off x="4476750" y="723900"/>
            <a:ext cx="7219950" cy="5398504"/>
            <a:chOff x="4476750" y="723900"/>
            <a:chExt cx="7219950" cy="5398504"/>
          </a:xfrm>
        </p:grpSpPr>
        <p:pic>
          <p:nvPicPr>
            <p:cNvPr id="9" name="Picture 8" descr="A graph of blue dots&#10;&#10;AI-generated content may be incorrect.">
              <a:extLst>
                <a:ext uri="{FF2B5EF4-FFF2-40B4-BE49-F238E27FC236}">
                  <a16:creationId xmlns:a16="http://schemas.microsoft.com/office/drawing/2014/main" id="{FBBB4EB0-7544-8C77-43CC-FFBBB624F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69" t="10764" r="8853" b="3820"/>
            <a:stretch>
              <a:fillRect/>
            </a:stretch>
          </p:blipFill>
          <p:spPr>
            <a:xfrm>
              <a:off x="4476750" y="723900"/>
              <a:ext cx="7219950" cy="53985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131345B-1B6C-1A53-F45F-35CEC3F1A2AE}"/>
                </a:ext>
              </a:extLst>
            </p:cNvPr>
            <p:cNvSpPr txBox="1"/>
            <p:nvPr/>
          </p:nvSpPr>
          <p:spPr>
            <a:xfrm>
              <a:off x="5162550" y="1181100"/>
              <a:ext cx="1311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Dobersdorf</a:t>
              </a:r>
            </a:p>
          </p:txBody>
        </p:sp>
      </p:grpSp>
      <p:pic>
        <p:nvPicPr>
          <p:cNvPr id="7" name="Picture 6" descr="A graph of blue and orange dots&#10;&#10;AI-generated content may be incorrect.">
            <a:extLst>
              <a:ext uri="{FF2B5EF4-FFF2-40B4-BE49-F238E27FC236}">
                <a16:creationId xmlns:a16="http://schemas.microsoft.com/office/drawing/2014/main" id="{26C7C7E3-34E8-6443-7821-92509917D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459" y="762000"/>
            <a:ext cx="7237175" cy="550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44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CB5C-3642-60E9-2B82-64A10F008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0148-6D0C-498A-0496-F88667152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Challenges and Errors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9051A-158B-0783-95C5-85AB0674E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6B43C-EDEA-65C6-7EF6-998397E13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FC0A-01EE-09AF-D5F0-A9DCDAF82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11</a:t>
            </a:fld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92F0E-A8B7-D2C3-4C64-64054AB0BB40}"/>
              </a:ext>
            </a:extLst>
          </p:cNvPr>
          <p:cNvSpPr txBox="1"/>
          <p:nvPr/>
        </p:nvSpPr>
        <p:spPr>
          <a:xfrm>
            <a:off x="6770914" y="1690688"/>
            <a:ext cx="4572000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Hyperparameter tuning: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- Unsuccesfully tried different ways for hyperparametertuning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Data had wrong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Took a long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541DCA-FF82-69D5-7C1E-CCD294C0C250}"/>
              </a:ext>
            </a:extLst>
          </p:cNvPr>
          <p:cNvSpPr txBox="1"/>
          <p:nvPr/>
        </p:nvSpPr>
        <p:spPr>
          <a:xfrm>
            <a:off x="391886" y="2008414"/>
            <a:ext cx="551905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DE" dirty="0"/>
              <a:t>Obtaining reliable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Only few weather station in SH that measure sunlight duration</a:t>
            </a:r>
          </a:p>
          <a:p>
            <a:r>
              <a:rPr lang="en-DE" dirty="0">
                <a:sym typeface="Wingdings" pitchFamily="2" charset="2"/>
              </a:rPr>
              <a:t> </a:t>
            </a:r>
            <a:r>
              <a:rPr lang="en-DE" dirty="0"/>
              <a:t> We don’t know how reliable the weather data 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4899B6-E0D1-3C01-F074-8CE879EDA0CA}"/>
              </a:ext>
            </a:extLst>
          </p:cNvPr>
          <p:cNvSpPr txBox="1"/>
          <p:nvPr/>
        </p:nvSpPr>
        <p:spPr>
          <a:xfrm>
            <a:off x="391886" y="3649258"/>
            <a:ext cx="457200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DE" dirty="0"/>
              <a:t>No comparability between our two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We decided to treat Elmshorn and Dobersdorf independently</a:t>
            </a:r>
          </a:p>
          <a:p>
            <a:pPr marL="285750" indent="-285750">
              <a:buFontTx/>
              <a:buChar char="-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44533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F6978-FCBD-9356-A5B8-2F85F1EA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8EFAD69-5414-5391-2255-85A228D64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8547EB-9F1B-3670-0D33-94E369B7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Discussion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32F7319-66F5-6C91-6167-686FE0C29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71B7B-2EB2-1BD1-F833-9FB90E711FD2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Simple vs. Complex model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How reliable is our weather data?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Weak prediction of high and low solar production</a:t>
            </a:r>
            <a:br>
              <a:rPr lang="en-US" sz="1500" dirty="0"/>
            </a:br>
            <a:r>
              <a:rPr lang="en-US" sz="1500" dirty="0"/>
              <a:t>   </a:t>
            </a:r>
            <a:r>
              <a:rPr lang="en-US" sz="1500" dirty="0">
                <a:sym typeface="Wingdings" pitchFamily="2" charset="2"/>
              </a:rPr>
              <a:t> Not a big enough dataset?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ym typeface="Wingdings" pitchFamily="2" charset="2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ym typeface="Wingdings" pitchFamily="2" charset="2"/>
              </a:rPr>
              <a:t>How will the  model be affected when using actual forecast data 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ym typeface="Wingdings" pitchFamily="2" charset="2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7306F-4E49-F111-9621-50A8B55C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22.01.26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62552-9C53-F337-0469-4735632B0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Machine Learning with Tensorflow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FB5FB-5586-DE90-AA99-00B6BE5B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9DA51EC-F083-EC45-A9D3-7A3196159AB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087413-EF42-AD71-851D-634D64144831}"/>
              </a:ext>
            </a:extLst>
          </p:cNvPr>
          <p:cNvGrpSpPr/>
          <p:nvPr/>
        </p:nvGrpSpPr>
        <p:grpSpPr>
          <a:xfrm>
            <a:off x="4272165" y="665019"/>
            <a:ext cx="7427640" cy="5649191"/>
            <a:chOff x="4272165" y="665019"/>
            <a:chExt cx="7427640" cy="5649191"/>
          </a:xfrm>
        </p:grpSpPr>
        <p:pic>
          <p:nvPicPr>
            <p:cNvPr id="7" name="Picture 6" descr="A graph of blue and orange dots&#10;&#10;AI-generated content may be incorrect.">
              <a:extLst>
                <a:ext uri="{FF2B5EF4-FFF2-40B4-BE49-F238E27FC236}">
                  <a16:creationId xmlns:a16="http://schemas.microsoft.com/office/drawing/2014/main" id="{B583837B-D04A-BA39-C02E-3B35E7029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2165" y="665019"/>
              <a:ext cx="7427640" cy="564919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6A0E81-422B-03E1-9FE5-307CFAFAE086}"/>
                </a:ext>
              </a:extLst>
            </p:cNvPr>
            <p:cNvSpPr txBox="1"/>
            <p:nvPr/>
          </p:nvSpPr>
          <p:spPr>
            <a:xfrm>
              <a:off x="5153891" y="1357745"/>
              <a:ext cx="11384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Elmshorn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D6BE7E-8597-5DA9-A316-CB71AC701597}"/>
              </a:ext>
            </a:extLst>
          </p:cNvPr>
          <p:cNvGrpSpPr/>
          <p:nvPr/>
        </p:nvGrpSpPr>
        <p:grpSpPr>
          <a:xfrm>
            <a:off x="4171542" y="614359"/>
            <a:ext cx="7530172" cy="5715346"/>
            <a:chOff x="4147478" y="602327"/>
            <a:chExt cx="7530172" cy="5715346"/>
          </a:xfrm>
        </p:grpSpPr>
        <p:pic>
          <p:nvPicPr>
            <p:cNvPr id="11" name="Picture 10" descr="A graph of blue and orange dots&#10;&#10;AI-generated content may be incorrect.">
              <a:extLst>
                <a:ext uri="{FF2B5EF4-FFF2-40B4-BE49-F238E27FC236}">
                  <a16:creationId xmlns:a16="http://schemas.microsoft.com/office/drawing/2014/main" id="{EAE5D92A-2A41-DD09-B21C-3DBF06F9DE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948" t="8958" r="8177" b="3124"/>
            <a:stretch>
              <a:fillRect/>
            </a:stretch>
          </p:blipFill>
          <p:spPr>
            <a:xfrm>
              <a:off x="4147478" y="602327"/>
              <a:ext cx="7530172" cy="571534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64D4B3-C837-1702-C571-823037A445AB}"/>
                </a:ext>
              </a:extLst>
            </p:cNvPr>
            <p:cNvSpPr txBox="1"/>
            <p:nvPr/>
          </p:nvSpPr>
          <p:spPr>
            <a:xfrm>
              <a:off x="5015346" y="1385455"/>
              <a:ext cx="13111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/>
                <a:t>Dobersdorf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381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06510-41F5-4503-D466-06C8EC41B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9132-38E1-9D00-3A0D-4006D564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 and Future Work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B5428-0BB0-A2CC-0B4F-ACC0DF389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255"/>
            <a:ext cx="10515600" cy="4294909"/>
          </a:xfrm>
        </p:spPr>
        <p:txBody>
          <a:bodyPr>
            <a:normAutofit lnSpcReduction="10000"/>
          </a:bodyPr>
          <a:lstStyle/>
          <a:p>
            <a:r>
              <a:rPr lang="en-DE" dirty="0"/>
              <a:t>Both LSTM and Baseline NN performed quite well</a:t>
            </a:r>
            <a:br>
              <a:rPr lang="en-DE" dirty="0"/>
            </a:br>
            <a:r>
              <a:rPr lang="en-DE" dirty="0">
                <a:sym typeface="Wingdings" pitchFamily="2" charset="2"/>
              </a:rPr>
              <a:t> Accuracy around 90%</a:t>
            </a:r>
            <a:endParaRPr lang="en-DE" dirty="0"/>
          </a:p>
          <a:p>
            <a:r>
              <a:rPr lang="en-DE" dirty="0"/>
              <a:t>Baseline even outperformed the LSTM</a:t>
            </a:r>
            <a:br>
              <a:rPr lang="en-DE" dirty="0"/>
            </a:br>
            <a:r>
              <a:rPr lang="en-DE" dirty="0">
                <a:sym typeface="Wingdings" pitchFamily="2" charset="2"/>
              </a:rPr>
              <a:t> strongest features sunlight duration and temperature</a:t>
            </a:r>
            <a:br>
              <a:rPr lang="en-DE" dirty="0">
                <a:sym typeface="Wingdings" pitchFamily="2" charset="2"/>
              </a:rPr>
            </a:br>
            <a:endParaRPr lang="en-DE" dirty="0">
              <a:sym typeface="Wingdings" pitchFamily="2" charset="2"/>
            </a:endParaRPr>
          </a:p>
          <a:p>
            <a:r>
              <a:rPr lang="en-DE" dirty="0"/>
              <a:t>Improve data situation </a:t>
            </a:r>
            <a:br>
              <a:rPr lang="en-DE" dirty="0"/>
            </a:br>
            <a:r>
              <a:rPr lang="en-DE" dirty="0">
                <a:sym typeface="Wingdings" pitchFamily="2" charset="2"/>
              </a:rPr>
              <a:t>  Use </a:t>
            </a:r>
            <a:r>
              <a:rPr lang="en-DE" dirty="0"/>
              <a:t>real forecast data for the actual locations</a:t>
            </a:r>
          </a:p>
          <a:p>
            <a:r>
              <a:rPr lang="en-DE" dirty="0"/>
              <a:t>Increase time-resolution </a:t>
            </a:r>
            <a:br>
              <a:rPr lang="en-DE" dirty="0"/>
            </a:br>
            <a:r>
              <a:rPr lang="en-DE" dirty="0">
                <a:sym typeface="Wingdings" pitchFamily="2" charset="2"/>
              </a:rPr>
              <a:t> Hourly or even shorter 10 min</a:t>
            </a:r>
          </a:p>
          <a:p>
            <a:r>
              <a:rPr lang="en-DE" dirty="0">
                <a:sym typeface="Wingdings" pitchFamily="2" charset="2"/>
              </a:rPr>
              <a:t>View whole regions and contries  SH or Germany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D1A64-2204-5723-FA03-2EC432BFC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8B7F6-C9E0-6145-A057-285CD04C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A5CC6-69BA-574E-AC78-75A45DFC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8268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F2CD2-08ED-FAF5-09C7-D2DCD778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F7E7A-686F-A95A-9633-E29D50BE2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Q&amp;A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C780A-CED5-B072-8834-DB24E3D8B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 dirty="0"/>
          </a:p>
          <a:p>
            <a:pPr marL="0" indent="0" algn="ctr">
              <a:buNone/>
            </a:pPr>
            <a:endParaRPr lang="en-DE" dirty="0"/>
          </a:p>
          <a:p>
            <a:pPr marL="0" indent="0" algn="ctr">
              <a:buNone/>
            </a:pPr>
            <a:r>
              <a:rPr lang="en-DE" dirty="0"/>
              <a:t>Thank you for your attention!</a:t>
            </a:r>
          </a:p>
          <a:p>
            <a:pPr algn="ctr"/>
            <a:endParaRPr lang="en-DE" dirty="0"/>
          </a:p>
          <a:p>
            <a:pPr algn="ctr"/>
            <a:endParaRPr lang="en-DE" dirty="0"/>
          </a:p>
          <a:p>
            <a:pPr marL="0" indent="0" algn="ctr">
              <a:buNone/>
            </a:pPr>
            <a:r>
              <a:rPr lang="en-DE" dirty="0"/>
              <a:t>We are happy to answer questions </a:t>
            </a:r>
            <a:r>
              <a:rPr lang="en-DE" dirty="0">
                <a:sym typeface="Wingdings" pitchFamily="2" charset="2"/>
              </a:rPr>
              <a:t></a:t>
            </a: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DAD77-F9AC-E5BF-E213-37BF2424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52CA1-B711-D53B-BD85-63159C6F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B27C-8115-8E4F-A9FC-AD96FE80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14</a:t>
            </a:fld>
            <a:endParaRPr lang="en-DE"/>
          </a:p>
        </p:txBody>
      </p:sp>
      <p:pic>
        <p:nvPicPr>
          <p:cNvPr id="7" name="Graphic 6" descr="Dim (Medium Sun) outline">
            <a:extLst>
              <a:ext uri="{FF2B5EF4-FFF2-40B4-BE49-F238E27FC236}">
                <a16:creationId xmlns:a16="http://schemas.microsoft.com/office/drawing/2014/main" id="{EB9B3640-51F3-8D85-DF5E-926AAA4C5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545771" cy="154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74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BE66C4-9CC0-48E5-FB5F-0BB86C43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0DF2-9BDB-BBCD-2326-4E5F91BD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4600" b="1" dirty="0"/>
              <a:t>Advanced Model – Training process</a:t>
            </a:r>
            <a:endParaRPr lang="en-DE" sz="4600" dirty="0"/>
          </a:p>
        </p:txBody>
      </p:sp>
      <p:pic>
        <p:nvPicPr>
          <p:cNvPr id="9" name="Content Placeholder 8" descr="A graph of a line&#10;&#10;AI-generated content may be incorrect.">
            <a:extLst>
              <a:ext uri="{FF2B5EF4-FFF2-40B4-BE49-F238E27FC236}">
                <a16:creationId xmlns:a16="http://schemas.microsoft.com/office/drawing/2014/main" id="{1FCBDBBF-807D-BABB-2DE8-AF34D971B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398" y="674484"/>
            <a:ext cx="6359652" cy="532621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4136A-E1CD-D7FA-69A5-0042226B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E7D6A-A487-43F9-D49E-C5F34534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D2FCE-2B53-577F-C969-6415D1CC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9DA51EC-F083-EC45-A9D3-7A3196159AB2}" type="slidenum">
              <a:rPr lang="en-DE" smtClean="0"/>
              <a:pPr>
                <a:spcAft>
                  <a:spcPts val="600"/>
                </a:spcAft>
              </a:pPr>
              <a:t>15</a:t>
            </a:fld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FAFE1-5B30-C6D0-8C75-86A0104E382A}"/>
              </a:ext>
            </a:extLst>
          </p:cNvPr>
          <p:cNvSpPr txBox="1"/>
          <p:nvPr/>
        </p:nvSpPr>
        <p:spPr>
          <a:xfrm>
            <a:off x="3049361" y="32443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DE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endParaRPr lang="en-D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6CAE0B-B46C-FC63-1541-13E89CE7AF56}"/>
              </a:ext>
            </a:extLst>
          </p:cNvPr>
          <p:cNvGrpSpPr/>
          <p:nvPr/>
        </p:nvGrpSpPr>
        <p:grpSpPr>
          <a:xfrm>
            <a:off x="590170" y="3148380"/>
            <a:ext cx="5523100" cy="2640705"/>
            <a:chOff x="6202300" y="930960"/>
            <a:chExt cx="5523100" cy="2640705"/>
          </a:xfrm>
        </p:grpSpPr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BAA0B910-6297-271D-26D7-97B615EC04C2}"/>
                </a:ext>
              </a:extLst>
            </p:cNvPr>
            <p:cNvSpPr/>
            <p:nvPr/>
          </p:nvSpPr>
          <p:spPr>
            <a:xfrm>
              <a:off x="6202300" y="930960"/>
              <a:ext cx="4770500" cy="2640705"/>
            </a:xfrm>
            <a:custGeom>
              <a:avLst/>
              <a:gdLst/>
              <a:ahLst/>
              <a:cxnLst/>
              <a:rect l="l" t="t" r="r" b="b"/>
              <a:pathLst>
                <a:path w="5630520" h="2640705">
                  <a:moveTo>
                    <a:pt x="107424" y="0"/>
                  </a:moveTo>
                  <a:lnTo>
                    <a:pt x="5523096" y="0"/>
                  </a:lnTo>
                  <a:cubicBezTo>
                    <a:pt x="5582425" y="0"/>
                    <a:pt x="5630520" y="48095"/>
                    <a:pt x="5630520" y="107424"/>
                  </a:cubicBezTo>
                  <a:lnTo>
                    <a:pt x="5630520" y="2533281"/>
                  </a:lnTo>
                  <a:cubicBezTo>
                    <a:pt x="5630520" y="2592610"/>
                    <a:pt x="5582425" y="2640705"/>
                    <a:pt x="5523096" y="2640705"/>
                  </a:cubicBezTo>
                  <a:lnTo>
                    <a:pt x="107424" y="2640705"/>
                  </a:lnTo>
                  <a:cubicBezTo>
                    <a:pt x="48095" y="2640705"/>
                    <a:pt x="0" y="2592610"/>
                    <a:pt x="0" y="2533281"/>
                  </a:cubicBezTo>
                  <a:lnTo>
                    <a:pt x="0" y="107424"/>
                  </a:lnTo>
                  <a:cubicBezTo>
                    <a:pt x="0" y="48135"/>
                    <a:pt x="48135" y="0"/>
                    <a:pt x="10742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1E293B"/>
                </a:gs>
                <a:gs pos="100000">
                  <a:srgbClr val="334155"/>
                </a:gs>
              </a:gsLst>
              <a:lin ang="2700000" scaled="1"/>
            </a:gra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74E95EFF-F988-444E-0D86-9A125B341F31}"/>
                </a:ext>
              </a:extLst>
            </p:cNvPr>
            <p:cNvSpPr/>
            <p:nvPr/>
          </p:nvSpPr>
          <p:spPr>
            <a:xfrm>
              <a:off x="6443991" y="1172652"/>
              <a:ext cx="214837" cy="214837"/>
            </a:xfrm>
            <a:custGeom>
              <a:avLst/>
              <a:gdLst/>
              <a:ahLst/>
              <a:cxnLst/>
              <a:rect l="l" t="t" r="r" b="b"/>
              <a:pathLst>
                <a:path w="214837" h="214837">
                  <a:moveTo>
                    <a:pt x="81865" y="3986"/>
                  </a:moveTo>
                  <a:cubicBezTo>
                    <a:pt x="83123" y="-2224"/>
                    <a:pt x="88620" y="-6714"/>
                    <a:pt x="94998" y="-6714"/>
                  </a:cubicBezTo>
                  <a:lnTo>
                    <a:pt x="120091" y="-6714"/>
                  </a:lnTo>
                  <a:cubicBezTo>
                    <a:pt x="126469" y="-6714"/>
                    <a:pt x="131965" y="-2224"/>
                    <a:pt x="133224" y="3986"/>
                  </a:cubicBezTo>
                  <a:lnTo>
                    <a:pt x="139308" y="33358"/>
                  </a:lnTo>
                  <a:cubicBezTo>
                    <a:pt x="145225" y="35876"/>
                    <a:pt x="150764" y="39107"/>
                    <a:pt x="155799" y="42925"/>
                  </a:cubicBezTo>
                  <a:lnTo>
                    <a:pt x="184248" y="33484"/>
                  </a:lnTo>
                  <a:cubicBezTo>
                    <a:pt x="190290" y="31470"/>
                    <a:pt x="196920" y="33988"/>
                    <a:pt x="200109" y="39527"/>
                  </a:cubicBezTo>
                  <a:lnTo>
                    <a:pt x="212655" y="61262"/>
                  </a:lnTo>
                  <a:cubicBezTo>
                    <a:pt x="215844" y="66801"/>
                    <a:pt x="214711" y="73766"/>
                    <a:pt x="209928" y="78004"/>
                  </a:cubicBezTo>
                  <a:lnTo>
                    <a:pt x="187563" y="97894"/>
                  </a:lnTo>
                  <a:cubicBezTo>
                    <a:pt x="187940" y="100999"/>
                    <a:pt x="188108" y="104188"/>
                    <a:pt x="188108" y="107419"/>
                  </a:cubicBezTo>
                  <a:cubicBezTo>
                    <a:pt x="188108" y="110649"/>
                    <a:pt x="187898" y="113838"/>
                    <a:pt x="187563" y="116944"/>
                  </a:cubicBezTo>
                  <a:lnTo>
                    <a:pt x="209970" y="136875"/>
                  </a:lnTo>
                  <a:cubicBezTo>
                    <a:pt x="214753" y="141113"/>
                    <a:pt x="215844" y="148120"/>
                    <a:pt x="212697" y="153617"/>
                  </a:cubicBezTo>
                  <a:lnTo>
                    <a:pt x="200151" y="175352"/>
                  </a:lnTo>
                  <a:cubicBezTo>
                    <a:pt x="196962" y="180849"/>
                    <a:pt x="190332" y="183409"/>
                    <a:pt x="184290" y="181395"/>
                  </a:cubicBezTo>
                  <a:lnTo>
                    <a:pt x="155841" y="171954"/>
                  </a:lnTo>
                  <a:cubicBezTo>
                    <a:pt x="150764" y="175772"/>
                    <a:pt x="145225" y="178961"/>
                    <a:pt x="139350" y="181520"/>
                  </a:cubicBezTo>
                  <a:lnTo>
                    <a:pt x="133308" y="210851"/>
                  </a:lnTo>
                  <a:cubicBezTo>
                    <a:pt x="132007" y="217103"/>
                    <a:pt x="126510" y="221551"/>
                    <a:pt x="120174" y="221551"/>
                  </a:cubicBezTo>
                  <a:lnTo>
                    <a:pt x="95082" y="221551"/>
                  </a:lnTo>
                  <a:cubicBezTo>
                    <a:pt x="88704" y="221551"/>
                    <a:pt x="83207" y="217061"/>
                    <a:pt x="81949" y="210851"/>
                  </a:cubicBezTo>
                  <a:lnTo>
                    <a:pt x="75906" y="181520"/>
                  </a:lnTo>
                  <a:cubicBezTo>
                    <a:pt x="69990" y="179003"/>
                    <a:pt x="64493" y="175772"/>
                    <a:pt x="59416" y="171954"/>
                  </a:cubicBezTo>
                  <a:lnTo>
                    <a:pt x="30841" y="181395"/>
                  </a:lnTo>
                  <a:cubicBezTo>
                    <a:pt x="24799" y="183409"/>
                    <a:pt x="18169" y="180891"/>
                    <a:pt x="14980" y="175352"/>
                  </a:cubicBezTo>
                  <a:lnTo>
                    <a:pt x="2434" y="153617"/>
                  </a:lnTo>
                  <a:cubicBezTo>
                    <a:pt x="-755" y="148078"/>
                    <a:pt x="378" y="141113"/>
                    <a:pt x="5161" y="136875"/>
                  </a:cubicBezTo>
                  <a:lnTo>
                    <a:pt x="27568" y="116944"/>
                  </a:lnTo>
                  <a:cubicBezTo>
                    <a:pt x="27190" y="113838"/>
                    <a:pt x="27022" y="110649"/>
                    <a:pt x="27022" y="107419"/>
                  </a:cubicBezTo>
                  <a:cubicBezTo>
                    <a:pt x="27022" y="104188"/>
                    <a:pt x="27232" y="100999"/>
                    <a:pt x="27568" y="97894"/>
                  </a:cubicBezTo>
                  <a:lnTo>
                    <a:pt x="5161" y="77962"/>
                  </a:lnTo>
                  <a:cubicBezTo>
                    <a:pt x="378" y="73724"/>
                    <a:pt x="-713" y="66717"/>
                    <a:pt x="2434" y="61220"/>
                  </a:cubicBezTo>
                  <a:lnTo>
                    <a:pt x="14980" y="39485"/>
                  </a:lnTo>
                  <a:cubicBezTo>
                    <a:pt x="18169" y="33946"/>
                    <a:pt x="24799" y="31428"/>
                    <a:pt x="30841" y="33442"/>
                  </a:cubicBezTo>
                  <a:lnTo>
                    <a:pt x="59290" y="42883"/>
                  </a:lnTo>
                  <a:cubicBezTo>
                    <a:pt x="64367" y="39065"/>
                    <a:pt x="69906" y="35876"/>
                    <a:pt x="75780" y="33317"/>
                  </a:cubicBezTo>
                  <a:lnTo>
                    <a:pt x="81865" y="3986"/>
                  </a:lnTo>
                  <a:close/>
                  <a:moveTo>
                    <a:pt x="107544" y="140987"/>
                  </a:moveTo>
                  <a:cubicBezTo>
                    <a:pt x="119537" y="140942"/>
                    <a:pt x="130595" y="134502"/>
                    <a:pt x="136552" y="124094"/>
                  </a:cubicBezTo>
                  <a:cubicBezTo>
                    <a:pt x="142510" y="113685"/>
                    <a:pt x="142462" y="100889"/>
                    <a:pt x="136427" y="90525"/>
                  </a:cubicBezTo>
                  <a:cubicBezTo>
                    <a:pt x="130391" y="80162"/>
                    <a:pt x="119285" y="73805"/>
                    <a:pt x="107293" y="73850"/>
                  </a:cubicBezTo>
                  <a:cubicBezTo>
                    <a:pt x="95300" y="73895"/>
                    <a:pt x="84242" y="80335"/>
                    <a:pt x="78285" y="90743"/>
                  </a:cubicBezTo>
                  <a:cubicBezTo>
                    <a:pt x="72327" y="101152"/>
                    <a:pt x="72375" y="113948"/>
                    <a:pt x="78410" y="124312"/>
                  </a:cubicBezTo>
                  <a:cubicBezTo>
                    <a:pt x="84446" y="134675"/>
                    <a:pt x="95552" y="141032"/>
                    <a:pt x="107544" y="140987"/>
                  </a:cubicBezTo>
                  <a:close/>
                </a:path>
              </a:pathLst>
            </a:custGeom>
            <a:solidFill>
              <a:srgbClr val="F59E0B"/>
            </a:soli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0E6DE0DD-2FFA-B392-D5F3-3007F502E510}"/>
                </a:ext>
              </a:extLst>
            </p:cNvPr>
            <p:cNvSpPr/>
            <p:nvPr/>
          </p:nvSpPr>
          <p:spPr>
            <a:xfrm>
              <a:off x="6736158" y="1145797"/>
              <a:ext cx="4989242" cy="2774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0000"/>
                </a:lnSpc>
              </a:pPr>
              <a:r>
                <a:rPr lang="en-US" sz="1692" b="1" dirty="0">
                  <a:solidFill>
                    <a:srgbClr val="FFFFFF"/>
                  </a:solidFill>
                  <a:latin typeface="Liter" pitchFamily="34" charset="0"/>
                  <a:ea typeface="Liter" pitchFamily="34" charset="-122"/>
                  <a:cs typeface="Liter" pitchFamily="34" charset="-120"/>
                </a:rPr>
                <a:t>Training Configuration</a:t>
              </a:r>
              <a:endParaRPr lang="en-US" sz="1600" dirty="0"/>
            </a:p>
          </p:txBody>
        </p:sp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E3E12A45-583F-D789-A96F-6FB41736FE7A}"/>
                </a:ext>
              </a:extLst>
            </p:cNvPr>
            <p:cNvSpPr/>
            <p:nvPr/>
          </p:nvSpPr>
          <p:spPr>
            <a:xfrm>
              <a:off x="6417137" y="1566520"/>
              <a:ext cx="1983913" cy="823542"/>
            </a:xfrm>
            <a:custGeom>
              <a:avLst/>
              <a:gdLst/>
              <a:ahLst/>
              <a:cxnLst/>
              <a:rect l="l" t="t" r="r" b="b"/>
              <a:pathLst>
                <a:path w="2524335" h="823542">
                  <a:moveTo>
                    <a:pt x="71615" y="0"/>
                  </a:moveTo>
                  <a:lnTo>
                    <a:pt x="2452720" y="0"/>
                  </a:lnTo>
                  <a:cubicBezTo>
                    <a:pt x="2492272" y="0"/>
                    <a:pt x="2524335" y="32063"/>
                    <a:pt x="2524335" y="71615"/>
                  </a:cubicBezTo>
                  <a:lnTo>
                    <a:pt x="2524335" y="751927"/>
                  </a:lnTo>
                  <a:cubicBezTo>
                    <a:pt x="2524335" y="791479"/>
                    <a:pt x="2492272" y="823542"/>
                    <a:pt x="2452720" y="823542"/>
                  </a:cubicBezTo>
                  <a:lnTo>
                    <a:pt x="71615" y="823542"/>
                  </a:lnTo>
                  <a:cubicBezTo>
                    <a:pt x="32063" y="823542"/>
                    <a:pt x="0" y="791479"/>
                    <a:pt x="0" y="751927"/>
                  </a:cubicBezTo>
                  <a:lnTo>
                    <a:pt x="0" y="71615"/>
                  </a:lnTo>
                  <a:cubicBezTo>
                    <a:pt x="0" y="32090"/>
                    <a:pt x="32090" y="0"/>
                    <a:pt x="7161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D422F19A-FE37-6BDA-C76A-B13DC688E9FA}"/>
                </a:ext>
              </a:extLst>
            </p:cNvPr>
            <p:cNvSpPr/>
            <p:nvPr/>
          </p:nvSpPr>
          <p:spPr>
            <a:xfrm>
              <a:off x="6560361" y="1709744"/>
              <a:ext cx="2300546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FFFFFF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Epochs</a:t>
              </a:r>
              <a:endParaRPr lang="en-US" sz="1600" dirty="0"/>
            </a:p>
          </p:txBody>
        </p:sp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D044C078-78E4-D001-7E29-867FC66DA6DA}"/>
                </a:ext>
              </a:extLst>
            </p:cNvPr>
            <p:cNvSpPr/>
            <p:nvPr/>
          </p:nvSpPr>
          <p:spPr>
            <a:xfrm>
              <a:off x="6560361" y="1924581"/>
              <a:ext cx="2372159" cy="322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115" b="1" dirty="0">
                  <a:solidFill>
                    <a:srgbClr val="22C55E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60</a:t>
              </a:r>
              <a:endParaRPr lang="en-US" sz="1600" dirty="0"/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91870843-2BE0-1765-972D-6A986E76B152}"/>
                </a:ext>
              </a:extLst>
            </p:cNvPr>
            <p:cNvSpPr/>
            <p:nvPr/>
          </p:nvSpPr>
          <p:spPr>
            <a:xfrm>
              <a:off x="8551403" y="1566520"/>
              <a:ext cx="2227088" cy="823542"/>
            </a:xfrm>
            <a:custGeom>
              <a:avLst/>
              <a:gdLst/>
              <a:ahLst/>
              <a:cxnLst/>
              <a:rect l="l" t="t" r="r" b="b"/>
              <a:pathLst>
                <a:path w="2524335" h="823542">
                  <a:moveTo>
                    <a:pt x="71615" y="0"/>
                  </a:moveTo>
                  <a:lnTo>
                    <a:pt x="2452720" y="0"/>
                  </a:lnTo>
                  <a:cubicBezTo>
                    <a:pt x="2492272" y="0"/>
                    <a:pt x="2524335" y="32063"/>
                    <a:pt x="2524335" y="71615"/>
                  </a:cubicBezTo>
                  <a:lnTo>
                    <a:pt x="2524335" y="751927"/>
                  </a:lnTo>
                  <a:cubicBezTo>
                    <a:pt x="2524335" y="791479"/>
                    <a:pt x="2492272" y="823542"/>
                    <a:pt x="2452720" y="823542"/>
                  </a:cubicBezTo>
                  <a:lnTo>
                    <a:pt x="71615" y="823542"/>
                  </a:lnTo>
                  <a:cubicBezTo>
                    <a:pt x="32063" y="823542"/>
                    <a:pt x="0" y="791479"/>
                    <a:pt x="0" y="751927"/>
                  </a:cubicBezTo>
                  <a:lnTo>
                    <a:pt x="0" y="71615"/>
                  </a:lnTo>
                  <a:cubicBezTo>
                    <a:pt x="0" y="32090"/>
                    <a:pt x="32090" y="0"/>
                    <a:pt x="7161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8289FBC3-CAA0-79FE-524A-4CA67644B41F}"/>
                </a:ext>
              </a:extLst>
            </p:cNvPr>
            <p:cNvSpPr/>
            <p:nvPr/>
          </p:nvSpPr>
          <p:spPr>
            <a:xfrm>
              <a:off x="8694627" y="1709744"/>
              <a:ext cx="2300546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FFFFFF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Batch Size</a:t>
              </a:r>
              <a:endParaRPr lang="en-US" sz="1600" dirty="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0AE81C5C-1F29-D020-95D8-72302D5A159E}"/>
                </a:ext>
              </a:extLst>
            </p:cNvPr>
            <p:cNvSpPr/>
            <p:nvPr/>
          </p:nvSpPr>
          <p:spPr>
            <a:xfrm>
              <a:off x="8706057" y="1924581"/>
              <a:ext cx="2372159" cy="322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115" b="1" dirty="0">
                  <a:solidFill>
                    <a:srgbClr val="3B82F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8</a:t>
              </a:r>
              <a:endParaRPr lang="en-US" sz="1600" dirty="0"/>
            </a:p>
          </p:txBody>
        </p:sp>
        <p:sp>
          <p:nvSpPr>
            <p:cNvPr id="23" name="Shape 14">
              <a:extLst>
                <a:ext uri="{FF2B5EF4-FFF2-40B4-BE49-F238E27FC236}">
                  <a16:creationId xmlns:a16="http://schemas.microsoft.com/office/drawing/2014/main" id="{4875C8D7-535D-5FF3-B0CE-E95ECE878AB5}"/>
                </a:ext>
              </a:extLst>
            </p:cNvPr>
            <p:cNvSpPr/>
            <p:nvPr/>
          </p:nvSpPr>
          <p:spPr>
            <a:xfrm>
              <a:off x="6417137" y="2533286"/>
              <a:ext cx="1972483" cy="823542"/>
            </a:xfrm>
            <a:custGeom>
              <a:avLst/>
              <a:gdLst/>
              <a:ahLst/>
              <a:cxnLst/>
              <a:rect l="l" t="t" r="r" b="b"/>
              <a:pathLst>
                <a:path w="2524335" h="823542">
                  <a:moveTo>
                    <a:pt x="71615" y="0"/>
                  </a:moveTo>
                  <a:lnTo>
                    <a:pt x="2452720" y="0"/>
                  </a:lnTo>
                  <a:cubicBezTo>
                    <a:pt x="2492272" y="0"/>
                    <a:pt x="2524335" y="32063"/>
                    <a:pt x="2524335" y="71615"/>
                  </a:cubicBezTo>
                  <a:lnTo>
                    <a:pt x="2524335" y="751927"/>
                  </a:lnTo>
                  <a:cubicBezTo>
                    <a:pt x="2524335" y="791479"/>
                    <a:pt x="2492272" y="823542"/>
                    <a:pt x="2452720" y="823542"/>
                  </a:cubicBezTo>
                  <a:lnTo>
                    <a:pt x="71615" y="823542"/>
                  </a:lnTo>
                  <a:cubicBezTo>
                    <a:pt x="32063" y="823542"/>
                    <a:pt x="0" y="791479"/>
                    <a:pt x="0" y="751927"/>
                  </a:cubicBezTo>
                  <a:lnTo>
                    <a:pt x="0" y="71615"/>
                  </a:lnTo>
                  <a:cubicBezTo>
                    <a:pt x="0" y="32090"/>
                    <a:pt x="32090" y="0"/>
                    <a:pt x="7161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DE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84F43655-FD5F-4EA1-9697-2CD01CBA419E}"/>
                </a:ext>
              </a:extLst>
            </p:cNvPr>
            <p:cNvSpPr/>
            <p:nvPr/>
          </p:nvSpPr>
          <p:spPr>
            <a:xfrm>
              <a:off x="6560361" y="2676511"/>
              <a:ext cx="2300546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FFFFFF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Validation Split</a:t>
              </a:r>
              <a:endParaRPr lang="en-US" sz="1600" dirty="0"/>
            </a:p>
          </p:txBody>
        </p:sp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C19BD16A-8463-12E9-F8C9-FF77ED135538}"/>
                </a:ext>
              </a:extLst>
            </p:cNvPr>
            <p:cNvSpPr/>
            <p:nvPr/>
          </p:nvSpPr>
          <p:spPr>
            <a:xfrm>
              <a:off x="6560361" y="2891348"/>
              <a:ext cx="2372159" cy="3222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2115" b="1" dirty="0">
                  <a:solidFill>
                    <a:srgbClr val="F59E0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15%</a:t>
              </a:r>
              <a:endParaRPr lang="en-US" sz="1600" dirty="0"/>
            </a:p>
          </p:txBody>
        </p:sp>
        <p:sp>
          <p:nvSpPr>
            <p:cNvPr id="26" name="Shape 17">
              <a:extLst>
                <a:ext uri="{FF2B5EF4-FFF2-40B4-BE49-F238E27FC236}">
                  <a16:creationId xmlns:a16="http://schemas.microsoft.com/office/drawing/2014/main" id="{07DA7368-C5C5-FCA1-A6C5-98BDFFC8A94A}"/>
                </a:ext>
              </a:extLst>
            </p:cNvPr>
            <p:cNvSpPr/>
            <p:nvPr/>
          </p:nvSpPr>
          <p:spPr>
            <a:xfrm>
              <a:off x="8551403" y="2533286"/>
              <a:ext cx="2204228" cy="823542"/>
            </a:xfrm>
            <a:custGeom>
              <a:avLst/>
              <a:gdLst/>
              <a:ahLst/>
              <a:cxnLst/>
              <a:rect l="l" t="t" r="r" b="b"/>
              <a:pathLst>
                <a:path w="2524335" h="823542">
                  <a:moveTo>
                    <a:pt x="71615" y="0"/>
                  </a:moveTo>
                  <a:lnTo>
                    <a:pt x="2452720" y="0"/>
                  </a:lnTo>
                  <a:cubicBezTo>
                    <a:pt x="2492272" y="0"/>
                    <a:pt x="2524335" y="32063"/>
                    <a:pt x="2524335" y="71615"/>
                  </a:cubicBezTo>
                  <a:lnTo>
                    <a:pt x="2524335" y="751927"/>
                  </a:lnTo>
                  <a:cubicBezTo>
                    <a:pt x="2524335" y="791479"/>
                    <a:pt x="2492272" y="823542"/>
                    <a:pt x="2452720" y="823542"/>
                  </a:cubicBezTo>
                  <a:lnTo>
                    <a:pt x="71615" y="823542"/>
                  </a:lnTo>
                  <a:cubicBezTo>
                    <a:pt x="32063" y="823542"/>
                    <a:pt x="0" y="791479"/>
                    <a:pt x="0" y="751927"/>
                  </a:cubicBezTo>
                  <a:lnTo>
                    <a:pt x="0" y="71615"/>
                  </a:lnTo>
                  <a:cubicBezTo>
                    <a:pt x="0" y="32090"/>
                    <a:pt x="32090" y="0"/>
                    <a:pt x="71615" y="0"/>
                  </a:cubicBez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/>
          </p:spPr>
          <p:txBody>
            <a:bodyPr/>
            <a:lstStyle/>
            <a:p>
              <a:endParaRPr lang="en-DE" dirty="0"/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FF290F99-6841-6098-6761-E48DDE1D74C9}"/>
                </a:ext>
              </a:extLst>
            </p:cNvPr>
            <p:cNvSpPr/>
            <p:nvPr/>
          </p:nvSpPr>
          <p:spPr>
            <a:xfrm>
              <a:off x="8694627" y="2676511"/>
              <a:ext cx="2300546" cy="1790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987" dirty="0">
                  <a:solidFill>
                    <a:srgbClr val="FFFFFF">
                      <a:alpha val="8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Optimizer</a:t>
              </a:r>
              <a:endParaRPr lang="en-US" sz="1600" dirty="0"/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C42DA0DA-55CD-90A2-AD3F-A2619826120D}"/>
                </a:ext>
              </a:extLst>
            </p:cNvPr>
            <p:cNvSpPr/>
            <p:nvPr/>
          </p:nvSpPr>
          <p:spPr>
            <a:xfrm>
              <a:off x="8694627" y="2891348"/>
              <a:ext cx="2327401" cy="2506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410" b="1" dirty="0">
                  <a:solidFill>
                    <a:srgbClr val="8B5CF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Adam</a:t>
              </a:r>
              <a:endParaRPr lang="en-US" sz="16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7D23ED6-65F0-71B5-F949-FC7225E90470}"/>
              </a:ext>
            </a:extLst>
          </p:cNvPr>
          <p:cNvSpPr txBox="1"/>
          <p:nvPr/>
        </p:nvSpPr>
        <p:spPr>
          <a:xfrm>
            <a:off x="6172200" y="365760"/>
            <a:ext cx="328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</a:t>
            </a:r>
            <a:r>
              <a:rPr lang="en-DE" dirty="0"/>
              <a:t>r 0.00001 -&gt; error around 14% </a:t>
            </a:r>
          </a:p>
        </p:txBody>
      </p:sp>
    </p:spTree>
    <p:extLst>
      <p:ext uri="{BB962C8B-B14F-4D97-AF65-F5344CB8AC3E}">
        <p14:creationId xmlns:p14="http://schemas.microsoft.com/office/powerpoint/2010/main" val="2128471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3C6EC31-DA1F-7240-0CBB-FD33A0DE8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4C3A-9867-B9DD-6762-9814C119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Advanced Model Performance (</a:t>
            </a:r>
            <a:r>
              <a:rPr lang="en-GB" b="1" dirty="0" err="1"/>
              <a:t>Dobersdorf</a:t>
            </a:r>
            <a:r>
              <a:rPr lang="en-GB" b="1" dirty="0"/>
              <a:t>)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37909-DF14-B9A3-4439-7B7455481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Run Time &lt; 20s</a:t>
            </a:r>
          </a:p>
          <a:p>
            <a:r>
              <a:rPr lang="en-US" noProof="0" dirty="0"/>
              <a:t>Accuracy</a:t>
            </a:r>
            <a:r>
              <a:rPr lang="de-DE" dirty="0"/>
              <a:t> </a:t>
            </a:r>
            <a:r>
              <a:rPr lang="en-DE" dirty="0"/>
              <a:t>~ 88 %</a:t>
            </a:r>
          </a:p>
          <a:p>
            <a:r>
              <a:rPr lang="en-DE" dirty="0"/>
              <a:t>…</a:t>
            </a:r>
          </a:p>
          <a:p>
            <a:endParaRPr lang="en-DE" dirty="0"/>
          </a:p>
          <a:p>
            <a:endParaRPr lang="en-DE" dirty="0"/>
          </a:p>
          <a:p>
            <a:pPr>
              <a:buFontTx/>
              <a:buChar char="-"/>
            </a:pP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44D5E-FDE8-030A-2BA7-EE2D1765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C240-1FCE-3C3C-D81C-76C946873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FB7AE-744F-4941-42A8-637FEB92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16</a:t>
            </a:fld>
            <a:endParaRPr lang="en-DE"/>
          </a:p>
        </p:txBody>
      </p:sp>
      <p:pic>
        <p:nvPicPr>
          <p:cNvPr id="11" name="Picture 10" descr="A graph of blue dots&#10;&#10;AI-generated content may be incorrect.">
            <a:extLst>
              <a:ext uri="{FF2B5EF4-FFF2-40B4-BE49-F238E27FC236}">
                <a16:creationId xmlns:a16="http://schemas.microsoft.com/office/drawing/2014/main" id="{F334BE2E-4299-ED9A-8B22-13090E6BCF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30" t="10833" r="8958" b="3333"/>
          <a:stretch>
            <a:fillRect/>
          </a:stretch>
        </p:blipFill>
        <p:spPr>
          <a:xfrm>
            <a:off x="5074920" y="1508760"/>
            <a:ext cx="6240780" cy="4709160"/>
          </a:xfrm>
          <a:prstGeom prst="rect">
            <a:avLst/>
          </a:prstGeom>
        </p:spPr>
      </p:pic>
      <p:pic>
        <p:nvPicPr>
          <p:cNvPr id="13" name="Picture 12" descr="A graph of blue and orange dots&#10;&#10;AI-generated content may be incorrect.">
            <a:extLst>
              <a:ext uri="{FF2B5EF4-FFF2-40B4-BE49-F238E27FC236}">
                <a16:creationId xmlns:a16="http://schemas.microsoft.com/office/drawing/2014/main" id="{8D66C409-4E23-441D-B1B1-72159F25FB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48" t="8958" r="8177" b="3124"/>
          <a:stretch>
            <a:fillRect/>
          </a:stretch>
        </p:blipFill>
        <p:spPr>
          <a:xfrm>
            <a:off x="5017770" y="1405890"/>
            <a:ext cx="6355080" cy="482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57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9EF227-85AD-21F6-C80C-D039B3A0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D537-643F-3B36-F131-7F081E2D1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Advanced Model Performance (Elmshorn)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22AB0-54CF-7AB9-2E99-772E9DCD4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Run Time &lt; 20s</a:t>
            </a:r>
          </a:p>
          <a:p>
            <a:r>
              <a:rPr lang="en-US" noProof="0" dirty="0"/>
              <a:t>Accuracy</a:t>
            </a:r>
            <a:r>
              <a:rPr lang="de-DE" dirty="0"/>
              <a:t> </a:t>
            </a:r>
            <a:r>
              <a:rPr lang="en-DE" dirty="0"/>
              <a:t>~ 85 %</a:t>
            </a:r>
          </a:p>
          <a:p>
            <a:r>
              <a:rPr lang="en-DE" dirty="0"/>
              <a:t>…</a:t>
            </a:r>
          </a:p>
          <a:p>
            <a:endParaRPr lang="en-DE" dirty="0"/>
          </a:p>
          <a:p>
            <a:endParaRPr lang="en-DE" dirty="0"/>
          </a:p>
          <a:p>
            <a:pPr>
              <a:buFontTx/>
              <a:buChar char="-"/>
            </a:pPr>
            <a:endParaRPr lang="en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56146-7A9B-A416-74A2-D1E81C0D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22.01.26</a:t>
            </a:r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F8116-9745-4E4C-2DC1-1BF6BA3F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Machine Learning with Tensorflow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08A6-588F-0D12-1D2E-362B7F4A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A51EC-F083-EC45-A9D3-7A3196159AB2}" type="slidenum">
              <a:rPr lang="en-DE" smtClean="0"/>
              <a:t>17</a:t>
            </a:fld>
            <a:endParaRPr lang="en-DE"/>
          </a:p>
        </p:txBody>
      </p:sp>
      <p:pic>
        <p:nvPicPr>
          <p:cNvPr id="8" name="Picture 7" descr="A graph with blue dots&#10;&#10;AI-generated content may be incorrect.">
            <a:extLst>
              <a:ext uri="{FF2B5EF4-FFF2-40B4-BE49-F238E27FC236}">
                <a16:creationId xmlns:a16="http://schemas.microsoft.com/office/drawing/2014/main" id="{42C07998-0776-C9DA-C839-ECE7D1B02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310" y="1485900"/>
            <a:ext cx="6311900" cy="4800600"/>
          </a:xfrm>
          <a:prstGeom prst="rect">
            <a:avLst/>
          </a:prstGeom>
        </p:spPr>
      </p:pic>
      <p:pic>
        <p:nvPicPr>
          <p:cNvPr id="14" name="Picture 13" descr="A graph of blue and orange dots&#10;&#10;AI-generated content may be incorrect.">
            <a:extLst>
              <a:ext uri="{FF2B5EF4-FFF2-40B4-BE49-F238E27FC236}">
                <a16:creationId xmlns:a16="http://schemas.microsoft.com/office/drawing/2014/main" id="{0CD0382E-6B1A-3DE2-6580-FF773ED80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310" y="1485900"/>
            <a:ext cx="63119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65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F64863-3D2C-2961-B849-540D6CF8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4AEF0-382D-8C4C-770A-80B87CC31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Discussion</a:t>
            </a: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A9DF3-12FB-851B-C9F9-9B9376AD574F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Simple vs. Complex model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How reliable is our weather data?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Weak prediction of high and low solar production</a:t>
            </a:r>
            <a:br>
              <a:rPr lang="en-US" sz="1500" dirty="0"/>
            </a:br>
            <a:r>
              <a:rPr lang="en-US" sz="1500" dirty="0"/>
              <a:t>   </a:t>
            </a:r>
            <a:r>
              <a:rPr lang="en-US" sz="1500" dirty="0">
                <a:sym typeface="Wingdings" pitchFamily="2" charset="2"/>
              </a:rPr>
              <a:t> Not a big enough dataset?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ym typeface="Wingdings" pitchFamily="2" charset="2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>
                <a:sym typeface="Wingdings" pitchFamily="2" charset="2"/>
              </a:rPr>
              <a:t>How will the  model be affected when using actual forecast data 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ym typeface="Wingdings" pitchFamily="2" charset="2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8" name="Picture 7" descr="A graph of blue and orange dots&#10;&#10;AI-generated content may be incorrect.">
            <a:extLst>
              <a:ext uri="{FF2B5EF4-FFF2-40B4-BE49-F238E27FC236}">
                <a16:creationId xmlns:a16="http://schemas.microsoft.com/office/drawing/2014/main" id="{D6591AA7-3FCE-4D9A-5E63-67CEEF231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805585"/>
            <a:ext cx="6903720" cy="52468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82D3D-FFE2-C7E3-9734-F0C547C4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22.01.26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7CE1-4078-7047-A9A2-25BDCE65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Machine Learning with Tensorflow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3DE1B-73CE-01FB-9A90-AA0D06A4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9DA51EC-F083-EC45-A9D3-7A3196159AB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245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005FC-6C78-41BE-85A4-F741936B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787A255-58D2-4447-3AD1-F1D0549E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CFEBB97-6450-7FE9-1E55-40788A6C4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5C49C-5260-D2DE-D534-4251F5DB4E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22.01.26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F081E-D80F-9540-870D-BCFA0DF70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Machine Learning with Tensorflow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1CCBB-D894-2B56-A51C-FA275FB4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9DA51EC-F083-EC45-A9D3-7A3196159AB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7" name="Picture 6" descr="A graph of blue and orange dots&#10;&#10;AI-generated content may be incorrect.">
            <a:extLst>
              <a:ext uri="{FF2B5EF4-FFF2-40B4-BE49-F238E27FC236}">
                <a16:creationId xmlns:a16="http://schemas.microsoft.com/office/drawing/2014/main" id="{B0772962-5D7F-8249-0876-B8D985257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292" y="1729409"/>
            <a:ext cx="5741258" cy="43665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19F0D6-51D4-A5A1-5041-77781D56DA04}"/>
              </a:ext>
            </a:extLst>
          </p:cNvPr>
          <p:cNvSpPr txBox="1"/>
          <p:nvPr/>
        </p:nvSpPr>
        <p:spPr>
          <a:xfrm>
            <a:off x="8285019" y="1025236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Elmshorn</a:t>
            </a:r>
          </a:p>
        </p:txBody>
      </p:sp>
      <p:pic>
        <p:nvPicPr>
          <p:cNvPr id="11" name="Picture 10" descr="A graph of blue and orange dots&#10;&#10;AI-generated content may be incorrect.">
            <a:extLst>
              <a:ext uri="{FF2B5EF4-FFF2-40B4-BE49-F238E27FC236}">
                <a16:creationId xmlns:a16="http://schemas.microsoft.com/office/drawing/2014/main" id="{1492F9C0-7175-A0F4-8CF0-CA328E5CBB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48" t="8958" r="8177" b="3124"/>
          <a:stretch>
            <a:fillRect/>
          </a:stretch>
        </p:blipFill>
        <p:spPr>
          <a:xfrm>
            <a:off x="0" y="1662545"/>
            <a:ext cx="5695204" cy="43226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1FE8D0-B2E2-CA83-E1CD-06EBD0D749BF}"/>
              </a:ext>
            </a:extLst>
          </p:cNvPr>
          <p:cNvSpPr txBox="1"/>
          <p:nvPr/>
        </p:nvSpPr>
        <p:spPr>
          <a:xfrm>
            <a:off x="2170195" y="969820"/>
            <a:ext cx="1311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Dobersdorf</a:t>
            </a:r>
          </a:p>
        </p:txBody>
      </p:sp>
    </p:spTree>
    <p:extLst>
      <p:ext uri="{BB962C8B-B14F-4D97-AF65-F5344CB8AC3E}">
        <p14:creationId xmlns:p14="http://schemas.microsoft.com/office/powerpoint/2010/main" val="442680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585</TotalTime>
  <Words>897</Words>
  <Application>Microsoft Macintosh PowerPoint</Application>
  <PresentationFormat>Widescreen</PresentationFormat>
  <Paragraphs>241</Paragraphs>
  <Slides>19</Slides>
  <Notes>2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-webkit-standard</vt:lpstr>
      <vt:lpstr>Aptos</vt:lpstr>
      <vt:lpstr>Aptos Display</vt:lpstr>
      <vt:lpstr>Arial</vt:lpstr>
      <vt:lpstr>Liter</vt:lpstr>
      <vt:lpstr>MiSans</vt:lpstr>
      <vt:lpstr>Wingdings</vt:lpstr>
      <vt:lpstr>Office Theme</vt:lpstr>
      <vt:lpstr>Renewable Energy Generation Prediction</vt:lpstr>
      <vt:lpstr>Introduction</vt:lpstr>
      <vt:lpstr>Literature Review</vt:lpstr>
      <vt:lpstr>Dataset Characteristics</vt:lpstr>
      <vt:lpstr>Dataset Characteristics</vt:lpstr>
      <vt:lpstr>Baseline Models</vt:lpstr>
      <vt:lpstr>Advanced Model - LSTM Architecture</vt:lpstr>
      <vt:lpstr>Advanced Model - Hyperparameter tuning</vt:lpstr>
      <vt:lpstr>Advanced Model – Training process</vt:lpstr>
      <vt:lpstr>Advanced Model Performance</vt:lpstr>
      <vt:lpstr>Challenges and Errors</vt:lpstr>
      <vt:lpstr>Discussion</vt:lpstr>
      <vt:lpstr>Conclusion and Future Work</vt:lpstr>
      <vt:lpstr>Q&amp;A</vt:lpstr>
      <vt:lpstr>Advanced Model – Training process</vt:lpstr>
      <vt:lpstr>Advanced Model Performance (Dobersdorf)</vt:lpstr>
      <vt:lpstr>Advanced Model Performance (Elmshorn)</vt:lpstr>
      <vt:lpstr>Discussion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 Emeis</dc:creator>
  <cp:lastModifiedBy>Christoph Emeis</cp:lastModifiedBy>
  <cp:revision>13</cp:revision>
  <dcterms:created xsi:type="dcterms:W3CDTF">2026-01-18T20:17:37Z</dcterms:created>
  <dcterms:modified xsi:type="dcterms:W3CDTF">2026-01-22T15:01:35Z</dcterms:modified>
</cp:coreProperties>
</file>